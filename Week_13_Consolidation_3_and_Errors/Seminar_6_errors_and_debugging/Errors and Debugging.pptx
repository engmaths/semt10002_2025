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3" r:id="rId3"/>
    <p:sldId id="304" r:id="rId4"/>
    <p:sldId id="306" r:id="rId5"/>
    <p:sldId id="307" r:id="rId6"/>
    <p:sldId id="308" r:id="rId7"/>
    <p:sldId id="309" r:id="rId8"/>
    <p:sldId id="310" r:id="rId9"/>
    <p:sldId id="313" r:id="rId10"/>
    <p:sldId id="321" r:id="rId11"/>
    <p:sldId id="311" r:id="rId12"/>
    <p:sldId id="312" r:id="rId13"/>
    <p:sldId id="314" r:id="rId14"/>
    <p:sldId id="315" r:id="rId15"/>
    <p:sldId id="318" r:id="rId16"/>
    <p:sldId id="316" r:id="rId17"/>
    <p:sldId id="319" r:id="rId18"/>
    <p:sldId id="317" r:id="rId19"/>
    <p:sldId id="32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7" d="100"/>
          <a:sy n="11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E2C4-041B-D9A3-3368-38A2137A9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D2E68-46A6-65AF-3EAE-1CD8D4DD9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2877A-17EB-5CDC-3125-51F76C8A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E2E9E-2DFB-87B0-74D6-2EC28220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46072-1D58-86B4-FF04-50B26C5D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03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B58A-7F88-266F-4A46-78E8BE8F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56F0B-4BD8-7392-EC55-5D1E3B3C3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93293-FB30-A0FE-407C-0DF18195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5AD67-DC0D-5663-1A2D-C0B896B0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2D8A2-465C-A568-DFFF-2CDDCDF1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88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4E4F-6FA2-62AF-4A0F-4C0DDDB5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CD9B1-E886-D4C2-4B4A-6966C7631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B555F-3412-2743-446E-5CA06BF9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DD413-C4F6-6405-6049-74E1A5B3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4C22D-0E99-E142-F236-22211A28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20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EE37-C606-44C1-86E8-83C89F2A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D3EE0-D1B4-A69A-0745-37DA3ECFF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FEB1C-73B2-D7B5-BA17-4BE2FB597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40B37-77EB-FB9A-7F92-6AF6B67C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7239E-F49D-DFED-4D97-25EF7A15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CC142-2AD2-D2B1-27E3-74236ECD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62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3BA5E-85D8-12B1-3030-7373EBA2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79164-5179-7935-8591-EEC9F3C1B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D945E-1E08-EE66-B8FA-6D388E930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594D2-074D-B204-651D-8011E5D7C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1AE0F-E730-DE98-8245-317664945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DC2BF-79B7-09D9-55A9-9D8707E0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3E828-42E5-0023-4B8A-AED89737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74A499-9367-9FE7-D310-3FC63795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04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04F1-3DCB-C507-0790-93A32C78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D9C06-149C-0F25-7785-9A348CDB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41736-D61F-31AA-CA83-1768215F0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6E356-44B9-EDA3-7A92-6DE26868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71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284FB-E746-8AC6-1917-93506241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ACEB3-A715-8242-A743-4C41697F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C72F8-1B7B-A9E3-6CFC-82BD0DB9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27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4149-8C72-AC09-9711-F3B5FC04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D252E-C700-C86A-9190-82176C6B6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6DBF6-C36F-B9FE-C45E-7CCF8115F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C5B49-99D0-DE79-D72A-619770D3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A4177-B879-1608-5F52-4CFFE9516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B5013-74A6-98AE-3CD7-51361DD7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03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C8D4-EC02-00BF-AEC2-4E7291B20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DB725-7263-5E54-6BC5-4B7A7732A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2C608-0E01-FD7B-DE7D-70EA7C610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D3D66-3364-77BE-C68E-C53C231B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3F856-7411-FCB2-B102-F3C9794E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8BFAB-8081-6130-0DBC-8357F698B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58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5710-0C2A-FF2E-DAE2-8D8F30D3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842C9-7CE2-B39D-941C-EB6A3BD8C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7737-5CD8-DA3A-EBD0-ED0D92E7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569A7-5726-B557-0CB3-E0639593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2638-7393-4108-952F-2BD3D662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71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DDFCC7-35C9-9D06-3A4A-856D227E2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E7C23-A8F4-BAC7-BB90-A01A17085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54A3-886C-5A8B-E457-4782AD8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20F9F-1880-E03E-25F3-D77A096B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E4BE8-FC53-70CA-C4D7-8408791C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2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DE4571-12E1-9233-9583-3F4107B4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C5DF3-39BB-9DAF-C411-827DAD4FF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F3E70-BF87-3871-04CD-124EC400D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19F51-38A4-42E7-8F0D-4595786FECB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7644-A78A-CA3B-EB78-C349C91B6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AE0EA-0E75-D93E-E8F8-952B1791A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13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01E2-C0C1-A454-A916-7022B8004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Computer Programming and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B3D4A-CE3B-E919-93EF-B0C05AF81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01937"/>
          </a:xfrm>
        </p:spPr>
        <p:txBody>
          <a:bodyPr/>
          <a:lstStyle/>
          <a:p>
            <a:r>
              <a:rPr lang="en-GB" dirty="0"/>
              <a:t>SEMT10002</a:t>
            </a:r>
          </a:p>
          <a:p>
            <a:r>
              <a:rPr lang="en-GB" dirty="0"/>
              <a:t>2025 / 2026</a:t>
            </a:r>
          </a:p>
        </p:txBody>
      </p:sp>
    </p:spTree>
    <p:extLst>
      <p:ext uri="{BB962C8B-B14F-4D97-AF65-F5344CB8AC3E}">
        <p14:creationId xmlns:p14="http://schemas.microsoft.com/office/powerpoint/2010/main" val="164097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4FF65-D43A-C4C5-5772-D925174F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F7E6-8EE0-4E8A-7CC6-581CAB01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This Seminar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8AD8-68DE-64CC-E7DC-0C7675D03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/>
              <a:t>Understand</a:t>
            </a:r>
            <a:r>
              <a:rPr lang="en-GB"/>
              <a:t> that errors and bugs are a normal part of writing code</a:t>
            </a:r>
          </a:p>
          <a:p>
            <a:r>
              <a:rPr lang="en-GB" b="1"/>
              <a:t>Understand</a:t>
            </a:r>
            <a:r>
              <a:rPr lang="en-GB"/>
              <a:t> that </a:t>
            </a:r>
            <a:r>
              <a:rPr lang="en-GB" i="1"/>
              <a:t>tracebacks</a:t>
            </a:r>
            <a:r>
              <a:rPr lang="en-GB"/>
              <a:t> can help us to fix bugs and errors in our code</a:t>
            </a:r>
          </a:p>
          <a:p>
            <a:r>
              <a:rPr lang="en-GB" b="1"/>
              <a:t>Practice</a:t>
            </a:r>
            <a:r>
              <a:rPr lang="en-GB" b="1" i="1"/>
              <a:t> </a:t>
            </a:r>
            <a:r>
              <a:rPr lang="en-GB"/>
              <a:t>reading and understanding </a:t>
            </a:r>
            <a:r>
              <a:rPr lang="en-GB" i="1"/>
              <a:t>tracebacks</a:t>
            </a:r>
          </a:p>
          <a:p>
            <a:r>
              <a:rPr lang="en-GB" b="1"/>
              <a:t>Understand</a:t>
            </a:r>
            <a:r>
              <a:rPr lang="en-GB"/>
              <a:t> the meaning of some common Python </a:t>
            </a:r>
            <a:r>
              <a:rPr lang="en-GB" i="1"/>
              <a:t>Exceptions</a:t>
            </a:r>
            <a:endParaRPr lang="en-GB"/>
          </a:p>
          <a:p>
            <a:r>
              <a:rPr lang="en-GB" b="1"/>
              <a:t>Practice</a:t>
            </a:r>
            <a:r>
              <a:rPr lang="en-GB"/>
              <a:t> debugging some code.</a:t>
            </a:r>
            <a:endParaRPr lang="en-GB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D94FB-54FE-7FA5-4C58-92D2E09921B6}"/>
              </a:ext>
            </a:extLst>
          </p:cNvPr>
          <p:cNvSpPr/>
          <p:nvPr/>
        </p:nvSpPr>
        <p:spPr>
          <a:xfrm>
            <a:off x="723569" y="1690688"/>
            <a:ext cx="10630231" cy="1966912"/>
          </a:xfrm>
          <a:prstGeom prst="rect">
            <a:avLst/>
          </a:prstGeom>
          <a:noFill/>
          <a:ln>
            <a:solidFill>
              <a:schemeClr val="accent2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16328557">
                  <a:custGeom>
                    <a:avLst/>
                    <a:gdLst>
                      <a:gd name="connsiteX0" fmla="*/ 0 w 10630231"/>
                      <a:gd name="connsiteY0" fmla="*/ 0 h 1410321"/>
                      <a:gd name="connsiteX1" fmla="*/ 271661 w 10630231"/>
                      <a:gd name="connsiteY1" fmla="*/ 0 h 1410321"/>
                      <a:gd name="connsiteX2" fmla="*/ 543323 w 10630231"/>
                      <a:gd name="connsiteY2" fmla="*/ 0 h 1410321"/>
                      <a:gd name="connsiteX3" fmla="*/ 1346496 w 10630231"/>
                      <a:gd name="connsiteY3" fmla="*/ 0 h 1410321"/>
                      <a:gd name="connsiteX4" fmla="*/ 1724460 w 10630231"/>
                      <a:gd name="connsiteY4" fmla="*/ 0 h 1410321"/>
                      <a:gd name="connsiteX5" fmla="*/ 2102423 w 10630231"/>
                      <a:gd name="connsiteY5" fmla="*/ 0 h 1410321"/>
                      <a:gd name="connsiteX6" fmla="*/ 2374085 w 10630231"/>
                      <a:gd name="connsiteY6" fmla="*/ 0 h 1410321"/>
                      <a:gd name="connsiteX7" fmla="*/ 3070956 w 10630231"/>
                      <a:gd name="connsiteY7" fmla="*/ 0 h 1410321"/>
                      <a:gd name="connsiteX8" fmla="*/ 3661524 w 10630231"/>
                      <a:gd name="connsiteY8" fmla="*/ 0 h 1410321"/>
                      <a:gd name="connsiteX9" fmla="*/ 4145790 w 10630231"/>
                      <a:gd name="connsiteY9" fmla="*/ 0 h 1410321"/>
                      <a:gd name="connsiteX10" fmla="*/ 4948963 w 10630231"/>
                      <a:gd name="connsiteY10" fmla="*/ 0 h 1410321"/>
                      <a:gd name="connsiteX11" fmla="*/ 5326927 w 10630231"/>
                      <a:gd name="connsiteY11" fmla="*/ 0 h 1410321"/>
                      <a:gd name="connsiteX12" fmla="*/ 6130100 w 10630231"/>
                      <a:gd name="connsiteY12" fmla="*/ 0 h 1410321"/>
                      <a:gd name="connsiteX13" fmla="*/ 6508064 w 10630231"/>
                      <a:gd name="connsiteY13" fmla="*/ 0 h 1410321"/>
                      <a:gd name="connsiteX14" fmla="*/ 7311237 w 10630231"/>
                      <a:gd name="connsiteY14" fmla="*/ 0 h 1410321"/>
                      <a:gd name="connsiteX15" fmla="*/ 7689200 w 10630231"/>
                      <a:gd name="connsiteY15" fmla="*/ 0 h 1410321"/>
                      <a:gd name="connsiteX16" fmla="*/ 8279769 w 10630231"/>
                      <a:gd name="connsiteY16" fmla="*/ 0 h 1410321"/>
                      <a:gd name="connsiteX17" fmla="*/ 8657733 w 10630231"/>
                      <a:gd name="connsiteY17" fmla="*/ 0 h 1410321"/>
                      <a:gd name="connsiteX18" fmla="*/ 9354603 w 10630231"/>
                      <a:gd name="connsiteY18" fmla="*/ 0 h 1410321"/>
                      <a:gd name="connsiteX19" fmla="*/ 9626265 w 10630231"/>
                      <a:gd name="connsiteY19" fmla="*/ 0 h 1410321"/>
                      <a:gd name="connsiteX20" fmla="*/ 10630231 w 10630231"/>
                      <a:gd name="connsiteY20" fmla="*/ 0 h 1410321"/>
                      <a:gd name="connsiteX21" fmla="*/ 10630231 w 10630231"/>
                      <a:gd name="connsiteY21" fmla="*/ 427797 h 1410321"/>
                      <a:gd name="connsiteX22" fmla="*/ 10630231 w 10630231"/>
                      <a:gd name="connsiteY22" fmla="*/ 926111 h 1410321"/>
                      <a:gd name="connsiteX23" fmla="*/ 10630231 w 10630231"/>
                      <a:gd name="connsiteY23" fmla="*/ 1410321 h 1410321"/>
                      <a:gd name="connsiteX24" fmla="*/ 9827058 w 10630231"/>
                      <a:gd name="connsiteY24" fmla="*/ 1410321 h 1410321"/>
                      <a:gd name="connsiteX25" fmla="*/ 9236490 w 10630231"/>
                      <a:gd name="connsiteY25" fmla="*/ 1410321 h 1410321"/>
                      <a:gd name="connsiteX26" fmla="*/ 8539619 w 10630231"/>
                      <a:gd name="connsiteY26" fmla="*/ 1410321 h 1410321"/>
                      <a:gd name="connsiteX27" fmla="*/ 7949051 w 10630231"/>
                      <a:gd name="connsiteY27" fmla="*/ 1410321 h 1410321"/>
                      <a:gd name="connsiteX28" fmla="*/ 7464784 w 10630231"/>
                      <a:gd name="connsiteY28" fmla="*/ 1410321 h 1410321"/>
                      <a:gd name="connsiteX29" fmla="*/ 6980518 w 10630231"/>
                      <a:gd name="connsiteY29" fmla="*/ 1410321 h 1410321"/>
                      <a:gd name="connsiteX30" fmla="*/ 6602555 w 10630231"/>
                      <a:gd name="connsiteY30" fmla="*/ 1410321 h 1410321"/>
                      <a:gd name="connsiteX31" fmla="*/ 5799382 w 10630231"/>
                      <a:gd name="connsiteY31" fmla="*/ 1410321 h 1410321"/>
                      <a:gd name="connsiteX32" fmla="*/ 5208813 w 10630231"/>
                      <a:gd name="connsiteY32" fmla="*/ 1410321 h 1410321"/>
                      <a:gd name="connsiteX33" fmla="*/ 4405640 w 10630231"/>
                      <a:gd name="connsiteY33" fmla="*/ 1410321 h 1410321"/>
                      <a:gd name="connsiteX34" fmla="*/ 3708769 w 10630231"/>
                      <a:gd name="connsiteY34" fmla="*/ 1410321 h 1410321"/>
                      <a:gd name="connsiteX35" fmla="*/ 2905596 w 10630231"/>
                      <a:gd name="connsiteY35" fmla="*/ 1410321 h 1410321"/>
                      <a:gd name="connsiteX36" fmla="*/ 2208726 w 10630231"/>
                      <a:gd name="connsiteY36" fmla="*/ 1410321 h 1410321"/>
                      <a:gd name="connsiteX37" fmla="*/ 1830762 w 10630231"/>
                      <a:gd name="connsiteY37" fmla="*/ 1410321 h 1410321"/>
                      <a:gd name="connsiteX38" fmla="*/ 1452798 w 10630231"/>
                      <a:gd name="connsiteY38" fmla="*/ 1410321 h 1410321"/>
                      <a:gd name="connsiteX39" fmla="*/ 755928 w 10630231"/>
                      <a:gd name="connsiteY39" fmla="*/ 1410321 h 1410321"/>
                      <a:gd name="connsiteX40" fmla="*/ 0 w 10630231"/>
                      <a:gd name="connsiteY40" fmla="*/ 1410321 h 1410321"/>
                      <a:gd name="connsiteX41" fmla="*/ 0 w 10630231"/>
                      <a:gd name="connsiteY41" fmla="*/ 954317 h 1410321"/>
                      <a:gd name="connsiteX42" fmla="*/ 0 w 10630231"/>
                      <a:gd name="connsiteY42" fmla="*/ 456004 h 1410321"/>
                      <a:gd name="connsiteX43" fmla="*/ 0 w 10630231"/>
                      <a:gd name="connsiteY43" fmla="*/ 0 h 14103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10630231" h="1410321" extrusionOk="0">
                        <a:moveTo>
                          <a:pt x="0" y="0"/>
                        </a:moveTo>
                        <a:cubicBezTo>
                          <a:pt x="114281" y="-9215"/>
                          <a:pt x="153875" y="19235"/>
                          <a:pt x="271661" y="0"/>
                        </a:cubicBezTo>
                        <a:cubicBezTo>
                          <a:pt x="389447" y="-19235"/>
                          <a:pt x="439782" y="4677"/>
                          <a:pt x="543323" y="0"/>
                        </a:cubicBezTo>
                        <a:cubicBezTo>
                          <a:pt x="646864" y="-4677"/>
                          <a:pt x="1063658" y="30071"/>
                          <a:pt x="1346496" y="0"/>
                        </a:cubicBezTo>
                        <a:cubicBezTo>
                          <a:pt x="1629334" y="-30071"/>
                          <a:pt x="1539192" y="7366"/>
                          <a:pt x="1724460" y="0"/>
                        </a:cubicBezTo>
                        <a:cubicBezTo>
                          <a:pt x="1909728" y="-7366"/>
                          <a:pt x="2006126" y="9967"/>
                          <a:pt x="2102423" y="0"/>
                        </a:cubicBezTo>
                        <a:cubicBezTo>
                          <a:pt x="2198720" y="-9967"/>
                          <a:pt x="2307393" y="30573"/>
                          <a:pt x="2374085" y="0"/>
                        </a:cubicBezTo>
                        <a:cubicBezTo>
                          <a:pt x="2440777" y="-30573"/>
                          <a:pt x="2881539" y="52944"/>
                          <a:pt x="3070956" y="0"/>
                        </a:cubicBezTo>
                        <a:cubicBezTo>
                          <a:pt x="3260373" y="-52944"/>
                          <a:pt x="3457899" y="28897"/>
                          <a:pt x="3661524" y="0"/>
                        </a:cubicBezTo>
                        <a:cubicBezTo>
                          <a:pt x="3865149" y="-28897"/>
                          <a:pt x="3917448" y="27653"/>
                          <a:pt x="4145790" y="0"/>
                        </a:cubicBezTo>
                        <a:cubicBezTo>
                          <a:pt x="4374132" y="-27653"/>
                          <a:pt x="4599459" y="23920"/>
                          <a:pt x="4948963" y="0"/>
                        </a:cubicBezTo>
                        <a:cubicBezTo>
                          <a:pt x="5298467" y="-23920"/>
                          <a:pt x="5220372" y="11542"/>
                          <a:pt x="5326927" y="0"/>
                        </a:cubicBezTo>
                        <a:cubicBezTo>
                          <a:pt x="5433482" y="-11542"/>
                          <a:pt x="5926939" y="92949"/>
                          <a:pt x="6130100" y="0"/>
                        </a:cubicBezTo>
                        <a:cubicBezTo>
                          <a:pt x="6333261" y="-92949"/>
                          <a:pt x="6396416" y="35580"/>
                          <a:pt x="6508064" y="0"/>
                        </a:cubicBezTo>
                        <a:cubicBezTo>
                          <a:pt x="6619712" y="-35580"/>
                          <a:pt x="7000003" y="1368"/>
                          <a:pt x="7311237" y="0"/>
                        </a:cubicBezTo>
                        <a:cubicBezTo>
                          <a:pt x="7622471" y="-1368"/>
                          <a:pt x="7601837" y="1565"/>
                          <a:pt x="7689200" y="0"/>
                        </a:cubicBezTo>
                        <a:cubicBezTo>
                          <a:pt x="7776563" y="-1565"/>
                          <a:pt x="8051573" y="45624"/>
                          <a:pt x="8279769" y="0"/>
                        </a:cubicBezTo>
                        <a:cubicBezTo>
                          <a:pt x="8507965" y="-45624"/>
                          <a:pt x="8524538" y="23482"/>
                          <a:pt x="8657733" y="0"/>
                        </a:cubicBezTo>
                        <a:cubicBezTo>
                          <a:pt x="8790928" y="-23482"/>
                          <a:pt x="9120809" y="78858"/>
                          <a:pt x="9354603" y="0"/>
                        </a:cubicBezTo>
                        <a:cubicBezTo>
                          <a:pt x="9588397" y="-78858"/>
                          <a:pt x="9528083" y="15246"/>
                          <a:pt x="9626265" y="0"/>
                        </a:cubicBezTo>
                        <a:cubicBezTo>
                          <a:pt x="9724447" y="-15246"/>
                          <a:pt x="10181740" y="114473"/>
                          <a:pt x="10630231" y="0"/>
                        </a:cubicBezTo>
                        <a:cubicBezTo>
                          <a:pt x="10654474" y="171241"/>
                          <a:pt x="10616090" y="249020"/>
                          <a:pt x="10630231" y="427797"/>
                        </a:cubicBezTo>
                        <a:cubicBezTo>
                          <a:pt x="10644372" y="606574"/>
                          <a:pt x="10578288" y="698011"/>
                          <a:pt x="10630231" y="926111"/>
                        </a:cubicBezTo>
                        <a:cubicBezTo>
                          <a:pt x="10682174" y="1154211"/>
                          <a:pt x="10624150" y="1232285"/>
                          <a:pt x="10630231" y="1410321"/>
                        </a:cubicBezTo>
                        <a:cubicBezTo>
                          <a:pt x="10373152" y="1420262"/>
                          <a:pt x="10112638" y="1338417"/>
                          <a:pt x="9827058" y="1410321"/>
                        </a:cubicBezTo>
                        <a:cubicBezTo>
                          <a:pt x="9541478" y="1482225"/>
                          <a:pt x="9442669" y="1392027"/>
                          <a:pt x="9236490" y="1410321"/>
                        </a:cubicBezTo>
                        <a:cubicBezTo>
                          <a:pt x="9030311" y="1428615"/>
                          <a:pt x="8753315" y="1349815"/>
                          <a:pt x="8539619" y="1410321"/>
                        </a:cubicBezTo>
                        <a:cubicBezTo>
                          <a:pt x="8325923" y="1470827"/>
                          <a:pt x="8115182" y="1375179"/>
                          <a:pt x="7949051" y="1410321"/>
                        </a:cubicBezTo>
                        <a:cubicBezTo>
                          <a:pt x="7782920" y="1445463"/>
                          <a:pt x="7687612" y="1376192"/>
                          <a:pt x="7464784" y="1410321"/>
                        </a:cubicBezTo>
                        <a:cubicBezTo>
                          <a:pt x="7241956" y="1444450"/>
                          <a:pt x="7194185" y="1372727"/>
                          <a:pt x="6980518" y="1410321"/>
                        </a:cubicBezTo>
                        <a:cubicBezTo>
                          <a:pt x="6766851" y="1447915"/>
                          <a:pt x="6686256" y="1385611"/>
                          <a:pt x="6602555" y="1410321"/>
                        </a:cubicBezTo>
                        <a:cubicBezTo>
                          <a:pt x="6518854" y="1435031"/>
                          <a:pt x="6067491" y="1402672"/>
                          <a:pt x="5799382" y="1410321"/>
                        </a:cubicBezTo>
                        <a:cubicBezTo>
                          <a:pt x="5531273" y="1417970"/>
                          <a:pt x="5461751" y="1344817"/>
                          <a:pt x="5208813" y="1410321"/>
                        </a:cubicBezTo>
                        <a:cubicBezTo>
                          <a:pt x="4955875" y="1475825"/>
                          <a:pt x="4792100" y="1317100"/>
                          <a:pt x="4405640" y="1410321"/>
                        </a:cubicBezTo>
                        <a:cubicBezTo>
                          <a:pt x="4019180" y="1503542"/>
                          <a:pt x="3892232" y="1352824"/>
                          <a:pt x="3708769" y="1410321"/>
                        </a:cubicBezTo>
                        <a:cubicBezTo>
                          <a:pt x="3525306" y="1467818"/>
                          <a:pt x="3212498" y="1321848"/>
                          <a:pt x="2905596" y="1410321"/>
                        </a:cubicBezTo>
                        <a:cubicBezTo>
                          <a:pt x="2598694" y="1498794"/>
                          <a:pt x="2451451" y="1367936"/>
                          <a:pt x="2208726" y="1410321"/>
                        </a:cubicBezTo>
                        <a:cubicBezTo>
                          <a:pt x="1966001" y="1452706"/>
                          <a:pt x="1940110" y="1410144"/>
                          <a:pt x="1830762" y="1410321"/>
                        </a:cubicBezTo>
                        <a:cubicBezTo>
                          <a:pt x="1721414" y="1410498"/>
                          <a:pt x="1559966" y="1386233"/>
                          <a:pt x="1452798" y="1410321"/>
                        </a:cubicBezTo>
                        <a:cubicBezTo>
                          <a:pt x="1345630" y="1434409"/>
                          <a:pt x="1101513" y="1374781"/>
                          <a:pt x="755928" y="1410321"/>
                        </a:cubicBezTo>
                        <a:cubicBezTo>
                          <a:pt x="410343" y="1445861"/>
                          <a:pt x="325403" y="1348385"/>
                          <a:pt x="0" y="1410321"/>
                        </a:cubicBezTo>
                        <a:cubicBezTo>
                          <a:pt x="-16841" y="1183599"/>
                          <a:pt x="21691" y="1171197"/>
                          <a:pt x="0" y="954317"/>
                        </a:cubicBezTo>
                        <a:cubicBezTo>
                          <a:pt x="-21691" y="737437"/>
                          <a:pt x="25900" y="582540"/>
                          <a:pt x="0" y="456004"/>
                        </a:cubicBezTo>
                        <a:cubicBezTo>
                          <a:pt x="-25900" y="329468"/>
                          <a:pt x="46370" y="1006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411A7E-3156-4856-3364-6A22351BBB57}"/>
              </a:ext>
            </a:extLst>
          </p:cNvPr>
          <p:cNvSpPr/>
          <p:nvPr/>
        </p:nvSpPr>
        <p:spPr>
          <a:xfrm>
            <a:off x="723568" y="3792537"/>
            <a:ext cx="10630231" cy="924429"/>
          </a:xfrm>
          <a:prstGeom prst="rect">
            <a:avLst/>
          </a:prstGeom>
          <a:noFill/>
          <a:ln>
            <a:solidFill>
              <a:schemeClr val="accent2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16328557">
                  <a:custGeom>
                    <a:avLst/>
                    <a:gdLst>
                      <a:gd name="connsiteX0" fmla="*/ 0 w 10630231"/>
                      <a:gd name="connsiteY0" fmla="*/ 0 h 1410321"/>
                      <a:gd name="connsiteX1" fmla="*/ 271661 w 10630231"/>
                      <a:gd name="connsiteY1" fmla="*/ 0 h 1410321"/>
                      <a:gd name="connsiteX2" fmla="*/ 543323 w 10630231"/>
                      <a:gd name="connsiteY2" fmla="*/ 0 h 1410321"/>
                      <a:gd name="connsiteX3" fmla="*/ 1346496 w 10630231"/>
                      <a:gd name="connsiteY3" fmla="*/ 0 h 1410321"/>
                      <a:gd name="connsiteX4" fmla="*/ 1724460 w 10630231"/>
                      <a:gd name="connsiteY4" fmla="*/ 0 h 1410321"/>
                      <a:gd name="connsiteX5" fmla="*/ 2102423 w 10630231"/>
                      <a:gd name="connsiteY5" fmla="*/ 0 h 1410321"/>
                      <a:gd name="connsiteX6" fmla="*/ 2374085 w 10630231"/>
                      <a:gd name="connsiteY6" fmla="*/ 0 h 1410321"/>
                      <a:gd name="connsiteX7" fmla="*/ 3070956 w 10630231"/>
                      <a:gd name="connsiteY7" fmla="*/ 0 h 1410321"/>
                      <a:gd name="connsiteX8" fmla="*/ 3661524 w 10630231"/>
                      <a:gd name="connsiteY8" fmla="*/ 0 h 1410321"/>
                      <a:gd name="connsiteX9" fmla="*/ 4145790 w 10630231"/>
                      <a:gd name="connsiteY9" fmla="*/ 0 h 1410321"/>
                      <a:gd name="connsiteX10" fmla="*/ 4948963 w 10630231"/>
                      <a:gd name="connsiteY10" fmla="*/ 0 h 1410321"/>
                      <a:gd name="connsiteX11" fmla="*/ 5326927 w 10630231"/>
                      <a:gd name="connsiteY11" fmla="*/ 0 h 1410321"/>
                      <a:gd name="connsiteX12" fmla="*/ 6130100 w 10630231"/>
                      <a:gd name="connsiteY12" fmla="*/ 0 h 1410321"/>
                      <a:gd name="connsiteX13" fmla="*/ 6508064 w 10630231"/>
                      <a:gd name="connsiteY13" fmla="*/ 0 h 1410321"/>
                      <a:gd name="connsiteX14" fmla="*/ 7311237 w 10630231"/>
                      <a:gd name="connsiteY14" fmla="*/ 0 h 1410321"/>
                      <a:gd name="connsiteX15" fmla="*/ 7689200 w 10630231"/>
                      <a:gd name="connsiteY15" fmla="*/ 0 h 1410321"/>
                      <a:gd name="connsiteX16" fmla="*/ 8279769 w 10630231"/>
                      <a:gd name="connsiteY16" fmla="*/ 0 h 1410321"/>
                      <a:gd name="connsiteX17" fmla="*/ 8657733 w 10630231"/>
                      <a:gd name="connsiteY17" fmla="*/ 0 h 1410321"/>
                      <a:gd name="connsiteX18" fmla="*/ 9354603 w 10630231"/>
                      <a:gd name="connsiteY18" fmla="*/ 0 h 1410321"/>
                      <a:gd name="connsiteX19" fmla="*/ 9626265 w 10630231"/>
                      <a:gd name="connsiteY19" fmla="*/ 0 h 1410321"/>
                      <a:gd name="connsiteX20" fmla="*/ 10630231 w 10630231"/>
                      <a:gd name="connsiteY20" fmla="*/ 0 h 1410321"/>
                      <a:gd name="connsiteX21" fmla="*/ 10630231 w 10630231"/>
                      <a:gd name="connsiteY21" fmla="*/ 427797 h 1410321"/>
                      <a:gd name="connsiteX22" fmla="*/ 10630231 w 10630231"/>
                      <a:gd name="connsiteY22" fmla="*/ 926111 h 1410321"/>
                      <a:gd name="connsiteX23" fmla="*/ 10630231 w 10630231"/>
                      <a:gd name="connsiteY23" fmla="*/ 1410321 h 1410321"/>
                      <a:gd name="connsiteX24" fmla="*/ 9827058 w 10630231"/>
                      <a:gd name="connsiteY24" fmla="*/ 1410321 h 1410321"/>
                      <a:gd name="connsiteX25" fmla="*/ 9236490 w 10630231"/>
                      <a:gd name="connsiteY25" fmla="*/ 1410321 h 1410321"/>
                      <a:gd name="connsiteX26" fmla="*/ 8539619 w 10630231"/>
                      <a:gd name="connsiteY26" fmla="*/ 1410321 h 1410321"/>
                      <a:gd name="connsiteX27" fmla="*/ 7949051 w 10630231"/>
                      <a:gd name="connsiteY27" fmla="*/ 1410321 h 1410321"/>
                      <a:gd name="connsiteX28" fmla="*/ 7464784 w 10630231"/>
                      <a:gd name="connsiteY28" fmla="*/ 1410321 h 1410321"/>
                      <a:gd name="connsiteX29" fmla="*/ 6980518 w 10630231"/>
                      <a:gd name="connsiteY29" fmla="*/ 1410321 h 1410321"/>
                      <a:gd name="connsiteX30" fmla="*/ 6602555 w 10630231"/>
                      <a:gd name="connsiteY30" fmla="*/ 1410321 h 1410321"/>
                      <a:gd name="connsiteX31" fmla="*/ 5799382 w 10630231"/>
                      <a:gd name="connsiteY31" fmla="*/ 1410321 h 1410321"/>
                      <a:gd name="connsiteX32" fmla="*/ 5208813 w 10630231"/>
                      <a:gd name="connsiteY32" fmla="*/ 1410321 h 1410321"/>
                      <a:gd name="connsiteX33" fmla="*/ 4405640 w 10630231"/>
                      <a:gd name="connsiteY33" fmla="*/ 1410321 h 1410321"/>
                      <a:gd name="connsiteX34" fmla="*/ 3708769 w 10630231"/>
                      <a:gd name="connsiteY34" fmla="*/ 1410321 h 1410321"/>
                      <a:gd name="connsiteX35" fmla="*/ 2905596 w 10630231"/>
                      <a:gd name="connsiteY35" fmla="*/ 1410321 h 1410321"/>
                      <a:gd name="connsiteX36" fmla="*/ 2208726 w 10630231"/>
                      <a:gd name="connsiteY36" fmla="*/ 1410321 h 1410321"/>
                      <a:gd name="connsiteX37" fmla="*/ 1830762 w 10630231"/>
                      <a:gd name="connsiteY37" fmla="*/ 1410321 h 1410321"/>
                      <a:gd name="connsiteX38" fmla="*/ 1452798 w 10630231"/>
                      <a:gd name="connsiteY38" fmla="*/ 1410321 h 1410321"/>
                      <a:gd name="connsiteX39" fmla="*/ 755928 w 10630231"/>
                      <a:gd name="connsiteY39" fmla="*/ 1410321 h 1410321"/>
                      <a:gd name="connsiteX40" fmla="*/ 0 w 10630231"/>
                      <a:gd name="connsiteY40" fmla="*/ 1410321 h 1410321"/>
                      <a:gd name="connsiteX41" fmla="*/ 0 w 10630231"/>
                      <a:gd name="connsiteY41" fmla="*/ 954317 h 1410321"/>
                      <a:gd name="connsiteX42" fmla="*/ 0 w 10630231"/>
                      <a:gd name="connsiteY42" fmla="*/ 456004 h 1410321"/>
                      <a:gd name="connsiteX43" fmla="*/ 0 w 10630231"/>
                      <a:gd name="connsiteY43" fmla="*/ 0 h 14103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10630231" h="1410321" extrusionOk="0">
                        <a:moveTo>
                          <a:pt x="0" y="0"/>
                        </a:moveTo>
                        <a:cubicBezTo>
                          <a:pt x="114281" y="-9215"/>
                          <a:pt x="153875" y="19235"/>
                          <a:pt x="271661" y="0"/>
                        </a:cubicBezTo>
                        <a:cubicBezTo>
                          <a:pt x="389447" y="-19235"/>
                          <a:pt x="439782" y="4677"/>
                          <a:pt x="543323" y="0"/>
                        </a:cubicBezTo>
                        <a:cubicBezTo>
                          <a:pt x="646864" y="-4677"/>
                          <a:pt x="1063658" y="30071"/>
                          <a:pt x="1346496" y="0"/>
                        </a:cubicBezTo>
                        <a:cubicBezTo>
                          <a:pt x="1629334" y="-30071"/>
                          <a:pt x="1539192" y="7366"/>
                          <a:pt x="1724460" y="0"/>
                        </a:cubicBezTo>
                        <a:cubicBezTo>
                          <a:pt x="1909728" y="-7366"/>
                          <a:pt x="2006126" y="9967"/>
                          <a:pt x="2102423" y="0"/>
                        </a:cubicBezTo>
                        <a:cubicBezTo>
                          <a:pt x="2198720" y="-9967"/>
                          <a:pt x="2307393" y="30573"/>
                          <a:pt x="2374085" y="0"/>
                        </a:cubicBezTo>
                        <a:cubicBezTo>
                          <a:pt x="2440777" y="-30573"/>
                          <a:pt x="2881539" y="52944"/>
                          <a:pt x="3070956" y="0"/>
                        </a:cubicBezTo>
                        <a:cubicBezTo>
                          <a:pt x="3260373" y="-52944"/>
                          <a:pt x="3457899" y="28897"/>
                          <a:pt x="3661524" y="0"/>
                        </a:cubicBezTo>
                        <a:cubicBezTo>
                          <a:pt x="3865149" y="-28897"/>
                          <a:pt x="3917448" y="27653"/>
                          <a:pt x="4145790" y="0"/>
                        </a:cubicBezTo>
                        <a:cubicBezTo>
                          <a:pt x="4374132" y="-27653"/>
                          <a:pt x="4599459" y="23920"/>
                          <a:pt x="4948963" y="0"/>
                        </a:cubicBezTo>
                        <a:cubicBezTo>
                          <a:pt x="5298467" y="-23920"/>
                          <a:pt x="5220372" y="11542"/>
                          <a:pt x="5326927" y="0"/>
                        </a:cubicBezTo>
                        <a:cubicBezTo>
                          <a:pt x="5433482" y="-11542"/>
                          <a:pt x="5926939" y="92949"/>
                          <a:pt x="6130100" y="0"/>
                        </a:cubicBezTo>
                        <a:cubicBezTo>
                          <a:pt x="6333261" y="-92949"/>
                          <a:pt x="6396416" y="35580"/>
                          <a:pt x="6508064" y="0"/>
                        </a:cubicBezTo>
                        <a:cubicBezTo>
                          <a:pt x="6619712" y="-35580"/>
                          <a:pt x="7000003" y="1368"/>
                          <a:pt x="7311237" y="0"/>
                        </a:cubicBezTo>
                        <a:cubicBezTo>
                          <a:pt x="7622471" y="-1368"/>
                          <a:pt x="7601837" y="1565"/>
                          <a:pt x="7689200" y="0"/>
                        </a:cubicBezTo>
                        <a:cubicBezTo>
                          <a:pt x="7776563" y="-1565"/>
                          <a:pt x="8051573" y="45624"/>
                          <a:pt x="8279769" y="0"/>
                        </a:cubicBezTo>
                        <a:cubicBezTo>
                          <a:pt x="8507965" y="-45624"/>
                          <a:pt x="8524538" y="23482"/>
                          <a:pt x="8657733" y="0"/>
                        </a:cubicBezTo>
                        <a:cubicBezTo>
                          <a:pt x="8790928" y="-23482"/>
                          <a:pt x="9120809" y="78858"/>
                          <a:pt x="9354603" y="0"/>
                        </a:cubicBezTo>
                        <a:cubicBezTo>
                          <a:pt x="9588397" y="-78858"/>
                          <a:pt x="9528083" y="15246"/>
                          <a:pt x="9626265" y="0"/>
                        </a:cubicBezTo>
                        <a:cubicBezTo>
                          <a:pt x="9724447" y="-15246"/>
                          <a:pt x="10181740" y="114473"/>
                          <a:pt x="10630231" y="0"/>
                        </a:cubicBezTo>
                        <a:cubicBezTo>
                          <a:pt x="10654474" y="171241"/>
                          <a:pt x="10616090" y="249020"/>
                          <a:pt x="10630231" y="427797"/>
                        </a:cubicBezTo>
                        <a:cubicBezTo>
                          <a:pt x="10644372" y="606574"/>
                          <a:pt x="10578288" y="698011"/>
                          <a:pt x="10630231" y="926111"/>
                        </a:cubicBezTo>
                        <a:cubicBezTo>
                          <a:pt x="10682174" y="1154211"/>
                          <a:pt x="10624150" y="1232285"/>
                          <a:pt x="10630231" y="1410321"/>
                        </a:cubicBezTo>
                        <a:cubicBezTo>
                          <a:pt x="10373152" y="1420262"/>
                          <a:pt x="10112638" y="1338417"/>
                          <a:pt x="9827058" y="1410321"/>
                        </a:cubicBezTo>
                        <a:cubicBezTo>
                          <a:pt x="9541478" y="1482225"/>
                          <a:pt x="9442669" y="1392027"/>
                          <a:pt x="9236490" y="1410321"/>
                        </a:cubicBezTo>
                        <a:cubicBezTo>
                          <a:pt x="9030311" y="1428615"/>
                          <a:pt x="8753315" y="1349815"/>
                          <a:pt x="8539619" y="1410321"/>
                        </a:cubicBezTo>
                        <a:cubicBezTo>
                          <a:pt x="8325923" y="1470827"/>
                          <a:pt x="8115182" y="1375179"/>
                          <a:pt x="7949051" y="1410321"/>
                        </a:cubicBezTo>
                        <a:cubicBezTo>
                          <a:pt x="7782920" y="1445463"/>
                          <a:pt x="7687612" y="1376192"/>
                          <a:pt x="7464784" y="1410321"/>
                        </a:cubicBezTo>
                        <a:cubicBezTo>
                          <a:pt x="7241956" y="1444450"/>
                          <a:pt x="7194185" y="1372727"/>
                          <a:pt x="6980518" y="1410321"/>
                        </a:cubicBezTo>
                        <a:cubicBezTo>
                          <a:pt x="6766851" y="1447915"/>
                          <a:pt x="6686256" y="1385611"/>
                          <a:pt x="6602555" y="1410321"/>
                        </a:cubicBezTo>
                        <a:cubicBezTo>
                          <a:pt x="6518854" y="1435031"/>
                          <a:pt x="6067491" y="1402672"/>
                          <a:pt x="5799382" y="1410321"/>
                        </a:cubicBezTo>
                        <a:cubicBezTo>
                          <a:pt x="5531273" y="1417970"/>
                          <a:pt x="5461751" y="1344817"/>
                          <a:pt x="5208813" y="1410321"/>
                        </a:cubicBezTo>
                        <a:cubicBezTo>
                          <a:pt x="4955875" y="1475825"/>
                          <a:pt x="4792100" y="1317100"/>
                          <a:pt x="4405640" y="1410321"/>
                        </a:cubicBezTo>
                        <a:cubicBezTo>
                          <a:pt x="4019180" y="1503542"/>
                          <a:pt x="3892232" y="1352824"/>
                          <a:pt x="3708769" y="1410321"/>
                        </a:cubicBezTo>
                        <a:cubicBezTo>
                          <a:pt x="3525306" y="1467818"/>
                          <a:pt x="3212498" y="1321848"/>
                          <a:pt x="2905596" y="1410321"/>
                        </a:cubicBezTo>
                        <a:cubicBezTo>
                          <a:pt x="2598694" y="1498794"/>
                          <a:pt x="2451451" y="1367936"/>
                          <a:pt x="2208726" y="1410321"/>
                        </a:cubicBezTo>
                        <a:cubicBezTo>
                          <a:pt x="1966001" y="1452706"/>
                          <a:pt x="1940110" y="1410144"/>
                          <a:pt x="1830762" y="1410321"/>
                        </a:cubicBezTo>
                        <a:cubicBezTo>
                          <a:pt x="1721414" y="1410498"/>
                          <a:pt x="1559966" y="1386233"/>
                          <a:pt x="1452798" y="1410321"/>
                        </a:cubicBezTo>
                        <a:cubicBezTo>
                          <a:pt x="1345630" y="1434409"/>
                          <a:pt x="1101513" y="1374781"/>
                          <a:pt x="755928" y="1410321"/>
                        </a:cubicBezTo>
                        <a:cubicBezTo>
                          <a:pt x="410343" y="1445861"/>
                          <a:pt x="325403" y="1348385"/>
                          <a:pt x="0" y="1410321"/>
                        </a:cubicBezTo>
                        <a:cubicBezTo>
                          <a:pt x="-16841" y="1183599"/>
                          <a:pt x="21691" y="1171197"/>
                          <a:pt x="0" y="954317"/>
                        </a:cubicBezTo>
                        <a:cubicBezTo>
                          <a:pt x="-21691" y="737437"/>
                          <a:pt x="25900" y="582540"/>
                          <a:pt x="0" y="456004"/>
                        </a:cubicBezTo>
                        <a:cubicBezTo>
                          <a:pt x="-25900" y="329468"/>
                          <a:pt x="46370" y="1006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1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E555-2C6A-D38E-A567-CC0390E0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C60A-3201-4B1F-882B-25FB9FB7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78CDF-1978-832A-B772-60F09BEB8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BA667488-7F4A-34D7-DEA5-15D40D4F7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11" y="4129156"/>
            <a:ext cx="9156497" cy="183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44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0E35-9BD4-F758-4703-D1773191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1A2E4-DDE5-C2D0-B59C-E8809C41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A6698-6FE0-6EC1-4316-73A6B7A13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35A7DBC5-DF04-392E-D296-973F70DE3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11" y="4129156"/>
            <a:ext cx="9156497" cy="18376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850688-183A-7D0E-9278-206F8969E3E5}"/>
              </a:ext>
            </a:extLst>
          </p:cNvPr>
          <p:cNvSpPr/>
          <p:nvPr/>
        </p:nvSpPr>
        <p:spPr>
          <a:xfrm>
            <a:off x="969611" y="5439905"/>
            <a:ext cx="9156497" cy="5269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89CD9A-4A55-7400-E04F-51B7CDFB70D3}"/>
              </a:ext>
            </a:extLst>
          </p:cNvPr>
          <p:cNvSpPr/>
          <p:nvPr/>
        </p:nvSpPr>
        <p:spPr>
          <a:xfrm>
            <a:off x="8307658" y="4624492"/>
            <a:ext cx="758283" cy="3712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BA546-CAD9-A52E-AF04-4E028B30776E}"/>
              </a:ext>
            </a:extLst>
          </p:cNvPr>
          <p:cNvSpPr/>
          <p:nvPr/>
        </p:nvSpPr>
        <p:spPr>
          <a:xfrm>
            <a:off x="1445941" y="4906978"/>
            <a:ext cx="1587191" cy="3712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1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CAAE-7285-A073-94FD-E8CA6B40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3C52-2499-8491-9A50-5C39565B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CF9DC-7138-B5C5-B972-FEE5FA562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A53165FE-DE8B-963D-0686-7CDE4CF9C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05" y="4171775"/>
            <a:ext cx="9684989" cy="177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4175-2841-F1C5-7EB8-4E39FDD0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17D2-83BB-DC0D-0C33-D7459785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D87D-EBD9-6E42-60CA-98D112412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B3B515DB-CD6C-03D6-CF45-EF1E4DC69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427" y="4084880"/>
            <a:ext cx="70612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3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5444-7EB9-D40B-BC03-7750038F8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5D48-999D-4E12-F7A1-20EF2F89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A8D8-2594-A755-999F-FC2109ADC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  <a:p>
            <a:r>
              <a:rPr lang="en-GB"/>
              <a:t>If your syntax is correct, we may still get an error when we run our code. These Runtime errors are called </a:t>
            </a:r>
            <a:r>
              <a:rPr lang="en-GB" i="1"/>
              <a:t>Exceptions</a:t>
            </a:r>
            <a:r>
              <a:rPr lang="en-GB"/>
              <a:t>. 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457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6B8B-1127-5310-5169-EBD2C51E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9CFD-23F7-E207-2586-3DD6ED2B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83EC-36CE-F532-0864-B46443800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pic>
        <p:nvPicPr>
          <p:cNvPr id="6" name="Picture 5" descr="A number and numbers on a dark background&#10;&#10;Description automatically generated with medium confidence">
            <a:extLst>
              <a:ext uri="{FF2B5EF4-FFF2-40B4-BE49-F238E27FC236}">
                <a16:creationId xmlns:a16="http://schemas.microsoft.com/office/drawing/2014/main" id="{C3C9F844-5E1A-3A40-05F1-5A0777168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163" y="3429000"/>
            <a:ext cx="7772400" cy="20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2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3FDB-2635-9FE9-E8D0-0F277A0D5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B607-3AE7-A6A6-25CC-240ACC5C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67FDC-590C-8376-ADE4-3C861C726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164"/>
            <a:ext cx="10515600" cy="4784495"/>
          </a:xfrm>
        </p:spPr>
        <p:txBody>
          <a:bodyPr>
            <a:normAutofit/>
          </a:bodyPr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Picture 3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EC315722-A54A-2661-1216-CC52C3A25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58" y="2562161"/>
            <a:ext cx="8039483" cy="26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26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84617-87E9-7157-7584-AB756E04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E0FA-9BDF-1BBF-7FD6-D7611B97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65BA6-15B8-4C62-7C02-1A8D210DF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294"/>
            <a:ext cx="10515600" cy="5111825"/>
          </a:xfrm>
        </p:spPr>
        <p:txBody>
          <a:bodyPr>
            <a:normAutofit fontScale="92500" lnSpcReduction="10000"/>
          </a:bodyPr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When our code produces an exception, we can use the traceback to find out what </a:t>
            </a:r>
            <a:r>
              <a:rPr lang="en-GB" u="sng"/>
              <a:t>type of exception </a:t>
            </a:r>
            <a:r>
              <a:rPr lang="en-GB"/>
              <a:t>was raised, and what </a:t>
            </a:r>
            <a:r>
              <a:rPr lang="en-GB" u="sng"/>
              <a:t>lines of code </a:t>
            </a:r>
            <a:r>
              <a:rPr lang="en-GB"/>
              <a:t>causes the exception</a:t>
            </a:r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Picture 3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16E3D144-725A-CF65-D874-136993E6B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58" y="2387984"/>
            <a:ext cx="8039483" cy="26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8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DE0B-6B8B-BA80-9FBC-A32E4282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AC2F-8378-45D5-37AD-7BB10420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7DE48-4AF4-F7FF-76AD-908290BA9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949"/>
            <a:ext cx="10515600" cy="4929926"/>
          </a:xfrm>
        </p:spPr>
        <p:txBody>
          <a:bodyPr>
            <a:normAutofit fontScale="92500" lnSpcReduction="10000"/>
          </a:bodyPr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When our code produces an exception, we can use the traceback to find out what </a:t>
            </a:r>
            <a:r>
              <a:rPr lang="en-GB" u="sng"/>
              <a:t>type of exception </a:t>
            </a:r>
            <a:r>
              <a:rPr lang="en-GB"/>
              <a:t>was raised, and what </a:t>
            </a:r>
            <a:r>
              <a:rPr lang="en-GB" u="sng"/>
              <a:t>lines of code </a:t>
            </a:r>
            <a:r>
              <a:rPr lang="en-GB"/>
              <a:t>causes the exception.</a:t>
            </a:r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E82C22-179F-56E8-E226-F5511C5FA9BB}"/>
              </a:ext>
            </a:extLst>
          </p:cNvPr>
          <p:cNvGrpSpPr/>
          <p:nvPr/>
        </p:nvGrpSpPr>
        <p:grpSpPr>
          <a:xfrm>
            <a:off x="2092447" y="2469946"/>
            <a:ext cx="8051179" cy="2609676"/>
            <a:chOff x="1992351" y="3161405"/>
            <a:chExt cx="8051179" cy="2609676"/>
          </a:xfrm>
        </p:grpSpPr>
        <p:pic>
          <p:nvPicPr>
            <p:cNvPr id="4" name="Picture 3" descr="A computer screen shot of a program&#10;&#10;Description automatically generated">
              <a:extLst>
                <a:ext uri="{FF2B5EF4-FFF2-40B4-BE49-F238E27FC236}">
                  <a16:creationId xmlns:a16="http://schemas.microsoft.com/office/drawing/2014/main" id="{59C974A0-C508-2B73-BEFF-24D6237E1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8199" y="3161405"/>
              <a:ext cx="8039483" cy="260967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D74AE9-7455-6322-1A00-630B7B6CF5DD}"/>
                </a:ext>
              </a:extLst>
            </p:cNvPr>
            <p:cNvSpPr/>
            <p:nvPr/>
          </p:nvSpPr>
          <p:spPr>
            <a:xfrm>
              <a:off x="1992351" y="4606638"/>
              <a:ext cx="8039482" cy="9355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6E1946-41ED-E57D-9131-799DF592A47D}"/>
                </a:ext>
              </a:extLst>
            </p:cNvPr>
            <p:cNvSpPr/>
            <p:nvPr/>
          </p:nvSpPr>
          <p:spPr>
            <a:xfrm>
              <a:off x="1992351" y="5542157"/>
              <a:ext cx="4285786" cy="2289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5E6DF5-C0C5-A616-B028-C8433B127133}"/>
                </a:ext>
              </a:extLst>
            </p:cNvPr>
            <p:cNvSpPr/>
            <p:nvPr/>
          </p:nvSpPr>
          <p:spPr>
            <a:xfrm>
              <a:off x="2004048" y="3679736"/>
              <a:ext cx="8039482" cy="9355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346354-D151-D96E-CF55-C01760DFEB61}"/>
                </a:ext>
              </a:extLst>
            </p:cNvPr>
            <p:cNvSpPr/>
            <p:nvPr/>
          </p:nvSpPr>
          <p:spPr>
            <a:xfrm>
              <a:off x="1992351" y="3429000"/>
              <a:ext cx="3471747" cy="250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4288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23F5-EE55-49FE-5808-90F785B9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3EAC-A41F-F6ED-8056-F871EA81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3E7E-7A31-26AE-0796-C751AB788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67"/>
            <a:ext cx="10515600" cy="4988808"/>
          </a:xfrm>
        </p:spPr>
        <p:txBody>
          <a:bodyPr>
            <a:normAutofit fontScale="92500" lnSpcReduction="10000"/>
          </a:bodyPr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pPr marL="0" indent="0">
              <a:buNone/>
            </a:pP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When our code produces an exception, we can use the traceback to find out what </a:t>
            </a:r>
            <a:r>
              <a:rPr lang="en-GB" u="sng"/>
              <a:t>type of exception </a:t>
            </a:r>
            <a:r>
              <a:rPr lang="en-GB"/>
              <a:t>was raised, and what </a:t>
            </a:r>
            <a:r>
              <a:rPr lang="en-GB" u="sng"/>
              <a:t>lines of code </a:t>
            </a:r>
            <a:r>
              <a:rPr lang="en-GB"/>
              <a:t>causes the exception.</a:t>
            </a:r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5065B8-80EB-7FD7-51CB-5A4549C45568}"/>
              </a:ext>
            </a:extLst>
          </p:cNvPr>
          <p:cNvGrpSpPr/>
          <p:nvPr/>
        </p:nvGrpSpPr>
        <p:grpSpPr>
          <a:xfrm>
            <a:off x="1931418" y="2393659"/>
            <a:ext cx="8057028" cy="2616088"/>
            <a:chOff x="1986502" y="3161405"/>
            <a:chExt cx="8057028" cy="2616088"/>
          </a:xfrm>
        </p:grpSpPr>
        <p:pic>
          <p:nvPicPr>
            <p:cNvPr id="4" name="Picture 3" descr="A computer screen shot of a program&#10;&#10;Description automatically generated">
              <a:extLst>
                <a:ext uri="{FF2B5EF4-FFF2-40B4-BE49-F238E27FC236}">
                  <a16:creationId xmlns:a16="http://schemas.microsoft.com/office/drawing/2014/main" id="{64AB8241-4AF4-C42E-5EF7-18B3DD77F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8199" y="3161405"/>
              <a:ext cx="8039483" cy="260967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31F57C-1C30-CA3C-7E45-644D669A650A}"/>
                </a:ext>
              </a:extLst>
            </p:cNvPr>
            <p:cNvSpPr/>
            <p:nvPr/>
          </p:nvSpPr>
          <p:spPr>
            <a:xfrm>
              <a:off x="1992351" y="4606638"/>
              <a:ext cx="8039482" cy="9355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5ADB9D-E0A5-DCFB-AE52-C9837AEC4599}"/>
                </a:ext>
              </a:extLst>
            </p:cNvPr>
            <p:cNvSpPr/>
            <p:nvPr/>
          </p:nvSpPr>
          <p:spPr>
            <a:xfrm>
              <a:off x="1992351" y="5542157"/>
              <a:ext cx="4285786" cy="2289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09483D-78FE-D3A9-4B66-F28F5FB08A73}"/>
                </a:ext>
              </a:extLst>
            </p:cNvPr>
            <p:cNvSpPr/>
            <p:nvPr/>
          </p:nvSpPr>
          <p:spPr>
            <a:xfrm>
              <a:off x="2004048" y="3679736"/>
              <a:ext cx="8039482" cy="9355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D2D799-FF2F-6512-4C1F-9B896AA69D4D}"/>
                </a:ext>
              </a:extLst>
            </p:cNvPr>
            <p:cNvSpPr/>
            <p:nvPr/>
          </p:nvSpPr>
          <p:spPr>
            <a:xfrm>
              <a:off x="1992351" y="3429000"/>
              <a:ext cx="3471747" cy="250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B69BA7-D4B4-A569-7C5C-D804EB9211FF}"/>
                </a:ext>
              </a:extLst>
            </p:cNvPr>
            <p:cNvSpPr/>
            <p:nvPr/>
          </p:nvSpPr>
          <p:spPr>
            <a:xfrm>
              <a:off x="1986502" y="5548568"/>
              <a:ext cx="1091235" cy="2289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F5C56E-F301-FB61-98CD-7099B1EC0FAE}"/>
                </a:ext>
              </a:extLst>
            </p:cNvPr>
            <p:cNvSpPr/>
            <p:nvPr/>
          </p:nvSpPr>
          <p:spPr>
            <a:xfrm>
              <a:off x="2439985" y="4363417"/>
              <a:ext cx="2656122" cy="23680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260B8-51DC-F632-6A08-85684E18F121}"/>
                </a:ext>
              </a:extLst>
            </p:cNvPr>
            <p:cNvSpPr/>
            <p:nvPr/>
          </p:nvSpPr>
          <p:spPr>
            <a:xfrm>
              <a:off x="2439984" y="5298937"/>
              <a:ext cx="3537069" cy="244758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2AECE42-27BF-C73E-61E5-A34FC3D5D360}"/>
              </a:ext>
            </a:extLst>
          </p:cNvPr>
          <p:cNvSpPr/>
          <p:nvPr/>
        </p:nvSpPr>
        <p:spPr>
          <a:xfrm>
            <a:off x="8430434" y="3118823"/>
            <a:ext cx="779667" cy="2609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86D07F-91E9-184F-B6F4-15672F1CF9F2}"/>
              </a:ext>
            </a:extLst>
          </p:cNvPr>
          <p:cNvSpPr/>
          <p:nvPr/>
        </p:nvSpPr>
        <p:spPr>
          <a:xfrm>
            <a:off x="8430433" y="4076209"/>
            <a:ext cx="779667" cy="2609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6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3D7A-5138-1E04-5844-445BC1B7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5C13-E927-A27C-1016-149ADDA85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pic>
        <p:nvPicPr>
          <p:cNvPr id="13" name="Picture 1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FA7D1921-E6D2-676E-BB6E-47E7E8C00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33908"/>
            <a:ext cx="7772400" cy="386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0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7B0F-C2BF-4F4E-731D-2ED46380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E68A-C59B-3480-51C8-EE2BBC1D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67D3E5E9-405D-35C8-C7EA-3B7BE9F2E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50" y="1816100"/>
            <a:ext cx="72009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209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ED257-CC79-F940-D29F-BE2244C5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D103-3E6E-3485-6A8B-9B3AE855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E52954-276C-217C-0193-9B35F3CB5142}"/>
              </a:ext>
            </a:extLst>
          </p:cNvPr>
          <p:cNvGrpSpPr/>
          <p:nvPr/>
        </p:nvGrpSpPr>
        <p:grpSpPr>
          <a:xfrm>
            <a:off x="2495550" y="1816100"/>
            <a:ext cx="7200900" cy="3225800"/>
            <a:chOff x="2495550" y="2951163"/>
            <a:chExt cx="7200900" cy="3225800"/>
          </a:xfrm>
        </p:grpSpPr>
        <p:pic>
          <p:nvPicPr>
            <p:cNvPr id="5" name="Picture 4" descr="A computer screen shot of a program&#10;&#10;Description automatically generated">
              <a:extLst>
                <a:ext uri="{FF2B5EF4-FFF2-40B4-BE49-F238E27FC236}">
                  <a16:creationId xmlns:a16="http://schemas.microsoft.com/office/drawing/2014/main" id="{C9D1DE3D-4C5D-CF94-BA7E-319C6F852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5550" y="2951163"/>
              <a:ext cx="7200900" cy="32258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417DAE-59D1-BE2B-C35B-C1570A0BCBD6}"/>
                </a:ext>
              </a:extLst>
            </p:cNvPr>
            <p:cNvSpPr/>
            <p:nvPr/>
          </p:nvSpPr>
          <p:spPr>
            <a:xfrm>
              <a:off x="2495550" y="5107259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EE935D-1CD0-8BC6-84B9-7C82D5618B7C}"/>
                </a:ext>
              </a:extLst>
            </p:cNvPr>
            <p:cNvSpPr/>
            <p:nvPr/>
          </p:nvSpPr>
          <p:spPr>
            <a:xfrm>
              <a:off x="2495550" y="4248616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8A0359-DA6E-BB57-0F63-6C98F297D299}"/>
                </a:ext>
              </a:extLst>
            </p:cNvPr>
            <p:cNvSpPr/>
            <p:nvPr/>
          </p:nvSpPr>
          <p:spPr>
            <a:xfrm>
              <a:off x="2495550" y="3389973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CD4E19-4563-4552-0582-D20CD9488299}"/>
                </a:ext>
              </a:extLst>
            </p:cNvPr>
            <p:cNvSpPr/>
            <p:nvPr/>
          </p:nvSpPr>
          <p:spPr>
            <a:xfrm>
              <a:off x="2495550" y="5965901"/>
              <a:ext cx="5535746" cy="2110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2898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76E50-8B34-9DE0-42BF-22C58E4A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BB3D-ED1C-06D1-44B4-EF987563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D03A9F-B079-F904-C554-CEE9FE233E58}"/>
              </a:ext>
            </a:extLst>
          </p:cNvPr>
          <p:cNvGrpSpPr/>
          <p:nvPr/>
        </p:nvGrpSpPr>
        <p:grpSpPr>
          <a:xfrm>
            <a:off x="2495550" y="2058797"/>
            <a:ext cx="7200900" cy="3243663"/>
            <a:chOff x="2495550" y="2951163"/>
            <a:chExt cx="7200900" cy="3243663"/>
          </a:xfrm>
        </p:grpSpPr>
        <p:pic>
          <p:nvPicPr>
            <p:cNvPr id="5" name="Picture 4" descr="A computer screen shot of a program&#10;&#10;Description automatically generated">
              <a:extLst>
                <a:ext uri="{FF2B5EF4-FFF2-40B4-BE49-F238E27FC236}">
                  <a16:creationId xmlns:a16="http://schemas.microsoft.com/office/drawing/2014/main" id="{471EB7D6-DCE6-DBA7-CD13-BF5686312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5550" y="2951163"/>
              <a:ext cx="7200900" cy="32258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275E9E-455D-20AD-EDEE-ABE50C1F64F0}"/>
                </a:ext>
              </a:extLst>
            </p:cNvPr>
            <p:cNvSpPr/>
            <p:nvPr/>
          </p:nvSpPr>
          <p:spPr>
            <a:xfrm>
              <a:off x="2495550" y="5107259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926D97-EE7A-A3A6-442E-54BFFD576D59}"/>
                </a:ext>
              </a:extLst>
            </p:cNvPr>
            <p:cNvSpPr/>
            <p:nvPr/>
          </p:nvSpPr>
          <p:spPr>
            <a:xfrm>
              <a:off x="2495550" y="4248616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2EEA638-BA77-1BE3-2C92-9A33495FB7E4}"/>
                </a:ext>
              </a:extLst>
            </p:cNvPr>
            <p:cNvSpPr/>
            <p:nvPr/>
          </p:nvSpPr>
          <p:spPr>
            <a:xfrm>
              <a:off x="2495550" y="3389973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452BB6-2745-9BF1-D0B0-86981AD9B7E8}"/>
                </a:ext>
              </a:extLst>
            </p:cNvPr>
            <p:cNvSpPr/>
            <p:nvPr/>
          </p:nvSpPr>
          <p:spPr>
            <a:xfrm>
              <a:off x="2495550" y="5965901"/>
              <a:ext cx="5535746" cy="2110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98035E-25FB-14A8-140C-9C380F0235A9}"/>
                </a:ext>
              </a:extLst>
            </p:cNvPr>
            <p:cNvSpPr/>
            <p:nvPr/>
          </p:nvSpPr>
          <p:spPr>
            <a:xfrm>
              <a:off x="2495551" y="5983764"/>
              <a:ext cx="985780" cy="21106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BC05C64-4E90-EE8D-ACAB-C29102DDD8C7}"/>
                </a:ext>
              </a:extLst>
            </p:cNvPr>
            <p:cNvSpPr/>
            <p:nvPr/>
          </p:nvSpPr>
          <p:spPr>
            <a:xfrm>
              <a:off x="2823784" y="5772702"/>
              <a:ext cx="2221941" cy="21106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105044-9D09-3C56-850D-25A5D49A6A34}"/>
                </a:ext>
              </a:extLst>
            </p:cNvPr>
            <p:cNvSpPr/>
            <p:nvPr/>
          </p:nvSpPr>
          <p:spPr>
            <a:xfrm>
              <a:off x="2823784" y="4896198"/>
              <a:ext cx="6694789" cy="21999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5B058E-9446-4CCD-AE87-FCB9822D919C}"/>
                </a:ext>
              </a:extLst>
            </p:cNvPr>
            <p:cNvSpPr/>
            <p:nvPr/>
          </p:nvSpPr>
          <p:spPr>
            <a:xfrm>
              <a:off x="2823784" y="4001828"/>
              <a:ext cx="1091235" cy="2289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708F05-7868-ECDE-51ED-E69E1E145536}"/>
                </a:ext>
              </a:extLst>
            </p:cNvPr>
            <p:cNvSpPr/>
            <p:nvPr/>
          </p:nvSpPr>
          <p:spPr>
            <a:xfrm>
              <a:off x="8231231" y="3601034"/>
              <a:ext cx="780568" cy="2289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331CCF-ED3C-4DEB-F180-F3753126A50A}"/>
                </a:ext>
              </a:extLst>
            </p:cNvPr>
            <p:cNvSpPr/>
            <p:nvPr/>
          </p:nvSpPr>
          <p:spPr>
            <a:xfrm>
              <a:off x="8264283" y="4477541"/>
              <a:ext cx="747516" cy="209328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AB0810-A409-F56F-6F9E-BD05C05287E4}"/>
                </a:ext>
              </a:extLst>
            </p:cNvPr>
            <p:cNvSpPr/>
            <p:nvPr/>
          </p:nvSpPr>
          <p:spPr>
            <a:xfrm>
              <a:off x="8264283" y="5325518"/>
              <a:ext cx="780568" cy="2289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9430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D6F4-A9EE-F12D-FF10-A5A67958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0A08-1A3F-4755-DAD6-8B22741A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pic>
        <p:nvPicPr>
          <p:cNvPr id="13" name="Picture 1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22360A86-F32B-801E-F70D-D3D5F4763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33908"/>
            <a:ext cx="7772400" cy="386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1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F362-8BF8-7F0B-E051-59276D54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15511-8F94-03B1-3790-4D13B9474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Common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7A9BA-EA29-9D46-78AA-EF2B6954F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err="1"/>
              <a:t>IndexError</a:t>
            </a:r>
            <a:r>
              <a:rPr lang="en-GB" dirty="0"/>
              <a:t> – we’ve tried to access a list element </a:t>
            </a:r>
            <a:r>
              <a:rPr lang="en-GB"/>
              <a:t>with an index </a:t>
            </a:r>
            <a:r>
              <a:rPr lang="en-GB" dirty="0"/>
              <a:t>that doesn’t exist.</a:t>
            </a:r>
          </a:p>
          <a:p>
            <a:r>
              <a:rPr lang="en-GB" dirty="0" err="1"/>
              <a:t>KeyError</a:t>
            </a:r>
            <a:r>
              <a:rPr lang="en-GB" dirty="0"/>
              <a:t> – we’ve tried to access a dictionary with a key that doesn’t exist.</a:t>
            </a:r>
          </a:p>
          <a:p>
            <a:r>
              <a:rPr lang="en-GB" dirty="0" err="1"/>
              <a:t>NameError</a:t>
            </a:r>
            <a:r>
              <a:rPr lang="en-GB" dirty="0"/>
              <a:t> – we’ve tried to use a variable we haven’t defined.</a:t>
            </a:r>
          </a:p>
          <a:p>
            <a:r>
              <a:rPr lang="en-GB" dirty="0" err="1"/>
              <a:t>UnboundLocalError</a:t>
            </a:r>
            <a:r>
              <a:rPr lang="en-GB" dirty="0"/>
              <a:t> – we’ve tried to use a variable we haven’t defined in a function.</a:t>
            </a:r>
          </a:p>
          <a:p>
            <a:r>
              <a:rPr lang="en-GB" dirty="0" err="1"/>
              <a:t>TypeError</a:t>
            </a:r>
            <a:r>
              <a:rPr lang="en-GB" dirty="0"/>
              <a:t> – we’ve called a function or operator with a variable of the wrong type.</a:t>
            </a:r>
          </a:p>
          <a:p>
            <a:r>
              <a:rPr lang="en-GB" dirty="0" err="1"/>
              <a:t>ValueError</a:t>
            </a:r>
            <a:r>
              <a:rPr lang="en-GB" dirty="0"/>
              <a:t> – we’ve called a function with a variable that has the wrong value.</a:t>
            </a:r>
          </a:p>
        </p:txBody>
      </p:sp>
    </p:spTree>
    <p:extLst>
      <p:ext uri="{BB962C8B-B14F-4D97-AF65-F5344CB8AC3E}">
        <p14:creationId xmlns:p14="http://schemas.microsoft.com/office/powerpoint/2010/main" val="1155998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E5E3-915E-22F3-D7B3-8C195052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92AD-2997-3536-D3D6-4685638A5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Debug the three samples on Blackboard</a:t>
            </a:r>
          </a:p>
          <a:p>
            <a:pPr lvl="1"/>
            <a:r>
              <a:rPr lang="en-US"/>
              <a:t>Debug1.py</a:t>
            </a:r>
          </a:p>
          <a:p>
            <a:pPr lvl="1"/>
            <a:r>
              <a:rPr lang="en-US"/>
              <a:t>Debug2.py</a:t>
            </a:r>
          </a:p>
          <a:p>
            <a:pPr lvl="1"/>
            <a:r>
              <a:rPr lang="en-US"/>
              <a:t>Debug3.py</a:t>
            </a:r>
          </a:p>
        </p:txBody>
      </p:sp>
    </p:spTree>
    <p:extLst>
      <p:ext uri="{BB962C8B-B14F-4D97-AF65-F5344CB8AC3E}">
        <p14:creationId xmlns:p14="http://schemas.microsoft.com/office/powerpoint/2010/main" val="3130747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4334</TotalTime>
  <Words>648</Words>
  <Application>Microsoft Macintosh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Computer Programming and Algorithms</vt:lpstr>
      <vt:lpstr>This Seminar</vt:lpstr>
      <vt:lpstr>Errors &amp; Tracebacks</vt:lpstr>
      <vt:lpstr>Errors &amp; Tracebacks</vt:lpstr>
      <vt:lpstr>Errors &amp; Tracebacks</vt:lpstr>
      <vt:lpstr>Errors &amp; Tracebacks</vt:lpstr>
      <vt:lpstr>Errors &amp; Tracebacks</vt:lpstr>
      <vt:lpstr>Tracebacks</vt:lpstr>
      <vt:lpstr>Tracebacks</vt:lpstr>
      <vt:lpstr>Tracebacks</vt:lpstr>
      <vt:lpstr>Tracebacks</vt:lpstr>
      <vt:lpstr>Tracebacks</vt:lpstr>
      <vt:lpstr>Tracebacks</vt:lpstr>
      <vt:lpstr>Tracebacks</vt:lpstr>
      <vt:lpstr>Tracebacks</vt:lpstr>
      <vt:lpstr>Tracebacks</vt:lpstr>
      <vt:lpstr>Tracebacks</vt:lpstr>
      <vt:lpstr>Common Exceptions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Further Computer Programming</dc:title>
  <dc:creator>Martin Garrad</dc:creator>
  <cp:lastModifiedBy>Martin Garrad</cp:lastModifiedBy>
  <cp:revision>3</cp:revision>
  <dcterms:created xsi:type="dcterms:W3CDTF">2024-01-29T11:20:59Z</dcterms:created>
  <dcterms:modified xsi:type="dcterms:W3CDTF">2026-01-13T17:18:35Z</dcterms:modified>
</cp:coreProperties>
</file>