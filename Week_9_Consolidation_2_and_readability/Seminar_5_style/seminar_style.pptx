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92" r:id="rId5"/>
    <p:sldId id="261" r:id="rId6"/>
    <p:sldId id="274" r:id="rId7"/>
    <p:sldId id="290" r:id="rId8"/>
    <p:sldId id="295" r:id="rId9"/>
    <p:sldId id="307" r:id="rId10"/>
    <p:sldId id="296" r:id="rId11"/>
    <p:sldId id="300" r:id="rId12"/>
    <p:sldId id="297" r:id="rId13"/>
    <p:sldId id="301" r:id="rId14"/>
    <p:sldId id="302" r:id="rId15"/>
    <p:sldId id="298" r:id="rId16"/>
    <p:sldId id="304" r:id="rId17"/>
    <p:sldId id="303" r:id="rId18"/>
    <p:sldId id="299" r:id="rId19"/>
    <p:sldId id="305" r:id="rId20"/>
    <p:sldId id="306" r:id="rId21"/>
    <p:sldId id="291" r:id="rId22"/>
    <p:sldId id="309" r:id="rId23"/>
    <p:sldId id="31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8FE9A-02DB-1143-B776-77506D675ED5}" v="3" dt="2025-11-19T20:24:39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/>
    <p:restoredTop sz="94645"/>
  </p:normalViewPr>
  <p:slideViewPr>
    <p:cSldViewPr snapToGrid="0">
      <p:cViewPr varScale="1">
        <p:scale>
          <a:sx n="118" d="100"/>
          <a:sy n="118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B5D85944-D90A-5912-90C6-4C26E424D3D6}"/>
    <pc:docChg chg="undo custSel modSld">
      <pc:chgData name="Hemma Philamore" userId="db50e2f3-17b2-4cc0-b719-fb6254d3e9df" providerId="ADAL" clId="{B5D85944-D90A-5912-90C6-4C26E424D3D6}" dt="2025-11-19T20:25:52.686" v="29" actId="404"/>
      <pc:docMkLst>
        <pc:docMk/>
      </pc:docMkLst>
      <pc:sldChg chg="modSp mod">
        <pc:chgData name="Hemma Philamore" userId="db50e2f3-17b2-4cc0-b719-fb6254d3e9df" providerId="ADAL" clId="{B5D85944-D90A-5912-90C6-4C26E424D3D6}" dt="2025-11-19T20:16:25.660" v="1" actId="14100"/>
        <pc:sldMkLst>
          <pc:docMk/>
          <pc:sldMk cId="602239870" sldId="290"/>
        </pc:sldMkLst>
        <pc:spChg chg="mod">
          <ac:chgData name="Hemma Philamore" userId="db50e2f3-17b2-4cc0-b719-fb6254d3e9df" providerId="ADAL" clId="{B5D85944-D90A-5912-90C6-4C26E424D3D6}" dt="2025-11-19T20:16:25.660" v="1" actId="14100"/>
          <ac:spMkLst>
            <pc:docMk/>
            <pc:sldMk cId="602239870" sldId="290"/>
            <ac:spMk id="3" creationId="{3B8E4A9A-F491-5975-629A-270D6428E018}"/>
          </ac:spMkLst>
        </pc:spChg>
      </pc:sldChg>
      <pc:sldChg chg="modSp mod">
        <pc:chgData name="Hemma Philamore" userId="db50e2f3-17b2-4cc0-b719-fb6254d3e9df" providerId="ADAL" clId="{B5D85944-D90A-5912-90C6-4C26E424D3D6}" dt="2025-11-19T20:23:06.432" v="10" actId="20577"/>
        <pc:sldMkLst>
          <pc:docMk/>
          <pc:sldMk cId="1868874888" sldId="298"/>
        </pc:sldMkLst>
        <pc:spChg chg="mod">
          <ac:chgData name="Hemma Philamore" userId="db50e2f3-17b2-4cc0-b719-fb6254d3e9df" providerId="ADAL" clId="{B5D85944-D90A-5912-90C6-4C26E424D3D6}" dt="2025-11-19T20:23:06.432" v="10" actId="20577"/>
          <ac:spMkLst>
            <pc:docMk/>
            <pc:sldMk cId="1868874888" sldId="298"/>
            <ac:spMk id="3" creationId="{D7EDD503-792D-D108-1E62-DDEBB517F4D0}"/>
          </ac:spMkLst>
        </pc:spChg>
      </pc:sldChg>
      <pc:sldChg chg="addSp delSp modSp mod">
        <pc:chgData name="Hemma Philamore" userId="db50e2f3-17b2-4cc0-b719-fb6254d3e9df" providerId="ADAL" clId="{B5D85944-D90A-5912-90C6-4C26E424D3D6}" dt="2025-11-19T20:24:47.747" v="20" actId="1076"/>
        <pc:sldMkLst>
          <pc:docMk/>
          <pc:sldMk cId="1031749785" sldId="302"/>
        </pc:sldMkLst>
        <pc:spChg chg="mod">
          <ac:chgData name="Hemma Philamore" userId="db50e2f3-17b2-4cc0-b719-fb6254d3e9df" providerId="ADAL" clId="{B5D85944-D90A-5912-90C6-4C26E424D3D6}" dt="2025-11-19T20:24:47.747" v="20" actId="1076"/>
          <ac:spMkLst>
            <pc:docMk/>
            <pc:sldMk cId="1031749785" sldId="302"/>
            <ac:spMk id="12" creationId="{84E6CDDA-3098-B803-B3F6-2D25ACCB74FE}"/>
          </ac:spMkLst>
        </pc:spChg>
        <pc:picChg chg="add del mod">
          <ac:chgData name="Hemma Philamore" userId="db50e2f3-17b2-4cc0-b719-fb6254d3e9df" providerId="ADAL" clId="{B5D85944-D90A-5912-90C6-4C26E424D3D6}" dt="2025-11-19T20:24:23.502" v="11" actId="478"/>
          <ac:picMkLst>
            <pc:docMk/>
            <pc:sldMk cId="1031749785" sldId="302"/>
            <ac:picMk id="2" creationId="{01E969B2-DE18-6855-6C6D-7657A3A5EBBD}"/>
          </ac:picMkLst>
        </pc:picChg>
        <pc:picChg chg="add mod">
          <ac:chgData name="Hemma Philamore" userId="db50e2f3-17b2-4cc0-b719-fb6254d3e9df" providerId="ADAL" clId="{B5D85944-D90A-5912-90C6-4C26E424D3D6}" dt="2025-11-19T20:24:39.712" v="19" actId="167"/>
          <ac:picMkLst>
            <pc:docMk/>
            <pc:sldMk cId="1031749785" sldId="302"/>
            <ac:picMk id="5" creationId="{C5EE1637-ADF5-DB47-0E14-DD500F5EC4D3}"/>
          </ac:picMkLst>
        </pc:picChg>
        <pc:picChg chg="del">
          <ac:chgData name="Hemma Philamore" userId="db50e2f3-17b2-4cc0-b719-fb6254d3e9df" providerId="ADAL" clId="{B5D85944-D90A-5912-90C6-4C26E424D3D6}" dt="2025-11-19T20:24:24.470" v="12" actId="478"/>
          <ac:picMkLst>
            <pc:docMk/>
            <pc:sldMk cId="1031749785" sldId="302"/>
            <ac:picMk id="7" creationId="{AA2E0E77-C26A-3E11-2E66-2B286701BFC2}"/>
          </ac:picMkLst>
        </pc:picChg>
      </pc:sldChg>
      <pc:sldChg chg="addSp modSp mod">
        <pc:chgData name="Hemma Philamore" userId="db50e2f3-17b2-4cc0-b719-fb6254d3e9df" providerId="ADAL" clId="{B5D85944-D90A-5912-90C6-4C26E424D3D6}" dt="2025-11-19T20:25:52.686" v="29" actId="404"/>
        <pc:sldMkLst>
          <pc:docMk/>
          <pc:sldMk cId="3262772108" sldId="303"/>
        </pc:sldMkLst>
        <pc:spChg chg="add mod">
          <ac:chgData name="Hemma Philamore" userId="db50e2f3-17b2-4cc0-b719-fb6254d3e9df" providerId="ADAL" clId="{B5D85944-D90A-5912-90C6-4C26E424D3D6}" dt="2025-11-19T20:25:52.686" v="29" actId="404"/>
          <ac:spMkLst>
            <pc:docMk/>
            <pc:sldMk cId="3262772108" sldId="303"/>
            <ac:spMk id="4" creationId="{F5AC9797-7533-FF05-2B4C-3DBD18885B6A}"/>
          </ac:spMkLst>
        </pc:spChg>
      </pc:sldChg>
      <pc:sldChg chg="modSp mod">
        <pc:chgData name="Hemma Philamore" userId="db50e2f3-17b2-4cc0-b719-fb6254d3e9df" providerId="ADAL" clId="{B5D85944-D90A-5912-90C6-4C26E424D3D6}" dt="2025-11-19T20:25:30.165" v="21" actId="21"/>
        <pc:sldMkLst>
          <pc:docMk/>
          <pc:sldMk cId="3819177552" sldId="306"/>
        </pc:sldMkLst>
        <pc:spChg chg="mod">
          <ac:chgData name="Hemma Philamore" userId="db50e2f3-17b2-4cc0-b719-fb6254d3e9df" providerId="ADAL" clId="{B5D85944-D90A-5912-90C6-4C26E424D3D6}" dt="2025-11-19T20:25:30.165" v="21" actId="21"/>
          <ac:spMkLst>
            <pc:docMk/>
            <pc:sldMk cId="3819177552" sldId="306"/>
            <ac:spMk id="17" creationId="{02ED67BC-68C1-E070-9946-B1A8EF421C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43FE-B502-5902-251B-2A341D59F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92E09-2BD6-DDEA-39F8-826AE949B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84E7-5973-CA1D-D6DD-3EAD09AF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82B2-BB7B-36A3-1A45-436BFA70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F3C5-C7AE-B0B2-5B30-29385AA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3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0630-D20C-CF20-9400-15D5387C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70B0-C9FE-15FA-C57F-B73789C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F955-01ED-0C5E-4A6E-3919577E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4053-64D6-3F96-01B4-3F11BDA1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8B99-DD99-C860-642D-6F65A7FD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1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441C-B887-715A-19C3-6FAE89E1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3C55-45C4-D5F9-710C-D19247C7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B428-D686-B367-97C3-4E7CEE37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5AEFC-121D-CD01-E0FE-E0BB6F41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6F62F-1DA1-EF35-E94B-3F5DC0F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618F-B2D3-B86D-962A-DCD84F40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6A22-4AFC-FBAD-594F-CD9B7BB43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B3DD7-2879-6319-BA41-85DAF57FD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B8459-C4B9-5AE8-D13C-17CF4B1F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75299-B9FD-0221-7514-94DE3040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702B-75EF-ABF5-2409-5C85A270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4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70F3-277E-F850-DE70-5B6EFD11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E1024-29CB-A4FC-0853-D346F1B35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789A4-B98A-A6FE-39A8-3F9DF44D0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CF7CA-33FC-F77B-34DA-344D379F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8BC0A-335D-3C9D-8BA6-C8B8878FD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0BFE2-CD06-BA52-2F13-B549C4BE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304AB-8742-186C-CAF8-B3EB97F0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9E5A8-CA18-D104-AFE5-89E6F892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9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61C1-0812-1DE9-CDC7-7EB87EFA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AF042-14D9-8C7D-4849-0938F120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C46B8-A2A5-264F-7421-649AB291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CCC02-0BC1-5355-7A1C-823F8616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6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D33B-EC1D-5A1E-72CA-714C615B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21B03-06BF-7972-FA0B-71386E0A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BC5B9-2112-75E2-1725-91B8D112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5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4AC-E843-14F6-B35C-51A96667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94B1-CA3F-49E0-C126-92D5A3B7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58F08-B3C8-7325-D665-F4006775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175C-E6DF-D038-906C-6B46C3ED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B67A-A13B-41CF-7EE4-537D2E68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8F01-0C6A-CEF3-6CF4-EF318964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1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9645-764A-1322-8EEA-3C88BE03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DE096-0969-4A97-22F6-4FDF604CA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73EC6-D8C2-26C3-0F51-E24BAEEC2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8E944-7298-BC61-66F3-8BDD1DAF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6D6D5-02CC-64FA-9D04-BA9D05A0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A2328-DDE9-E73C-DC14-D538541B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5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2CC8-D429-5B32-2D37-C0E1BFDE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777E9-4574-6619-477D-EF7CD5D90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153B-B6E0-1A36-BBB1-0A9E980F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B742C-D9D9-7CAC-2D9B-25B8F2D6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C937-F9AA-3EB9-3CA7-934B6CE8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2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87EE-6025-79BE-CF75-74C51165B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E372-CF8B-36DD-14F3-1236DA436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DCE5-DB89-F086-6D58-CB529FB4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694A-4003-9754-EDAD-CE4DAFFF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E8C7-F342-B5ED-650A-8F9248DB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6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0329E-A946-E6A2-E6BC-846B3225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CDE6-65C2-9356-8436-A4B0FB55D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FA70F-E69A-6B81-4584-090B145CF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1FE8A-7D63-1141-8CB6-F8DD8B593433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228-C874-CED8-875D-ECEE13036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3984F-1485-E209-C463-66DA4B59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1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9BE5-00B7-DA01-1BC7-571814603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Readable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084BA-9D80-F21D-09AA-6598A132D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Style &amp; Structure</a:t>
            </a:r>
          </a:p>
        </p:txBody>
      </p:sp>
    </p:spTree>
    <p:extLst>
      <p:ext uri="{BB962C8B-B14F-4D97-AF65-F5344CB8AC3E}">
        <p14:creationId xmlns:p14="http://schemas.microsoft.com/office/powerpoint/2010/main" val="50800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D37B-B015-BD78-114E-419358BE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43A5-9720-C2E7-1EA9-560A0A40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style guides (i.e. PEP8, CPA Style Guide)</a:t>
            </a:r>
          </a:p>
          <a:p>
            <a:endParaRPr lang="en-US" dirty="0"/>
          </a:p>
          <a:p>
            <a:r>
              <a:rPr lang="en-US" dirty="0"/>
              <a:t>Understand how we can use: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Variable and function names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Comments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Consistent formatting </a:t>
            </a:r>
          </a:p>
          <a:p>
            <a:pPr marL="457200" lvl="1" indent="0">
              <a:buNone/>
            </a:pPr>
            <a:r>
              <a:rPr lang="en-US" sz="2800" dirty="0"/>
              <a:t>to improve readability of our code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Practice reading and understanding code.</a:t>
            </a:r>
          </a:p>
        </p:txBody>
      </p:sp>
    </p:spTree>
    <p:extLst>
      <p:ext uri="{BB962C8B-B14F-4D97-AF65-F5344CB8AC3E}">
        <p14:creationId xmlns:p14="http://schemas.microsoft.com/office/powerpoint/2010/main" val="383177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AF3F-B6EF-4EA0-3F87-F1C0E488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consistent style?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B6A8-FD6E-F99E-4663-2F8592DC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Improves readability </a:t>
            </a:r>
          </a:p>
          <a:p>
            <a:endParaRPr lang="en-GB" dirty="0"/>
          </a:p>
          <a:p>
            <a:r>
              <a:rPr lang="en-GB" dirty="0"/>
              <a:t>Well-formatted, consistent code is easier to update, debug, and extend</a:t>
            </a:r>
          </a:p>
          <a:p>
            <a:endParaRPr lang="en-GB" dirty="0"/>
          </a:p>
          <a:p>
            <a:r>
              <a:rPr lang="en-GB" dirty="0"/>
              <a:t>Team members can easily read and modify each other’s 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3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FC9-A23B-771D-19AA-BB6C5E3B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FF91-F672-E704-B939-0C42F782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0E3-106B-3BD4-CA21-FAFE8A4D4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2400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Most of the code you’ve written has been from scratch</a:t>
            </a:r>
          </a:p>
          <a:p>
            <a:endParaRPr lang="en-US" dirty="0"/>
          </a:p>
          <a:p>
            <a:r>
              <a:rPr lang="en-US" dirty="0"/>
              <a:t>In practice, much of the code you write will be editing an existing code base. </a:t>
            </a:r>
          </a:p>
          <a:p>
            <a:pPr lvl="1"/>
            <a:r>
              <a:rPr lang="en-US" dirty="0"/>
              <a:t>Working in a team</a:t>
            </a:r>
          </a:p>
          <a:p>
            <a:pPr lvl="1"/>
            <a:r>
              <a:rPr lang="en-US" dirty="0"/>
              <a:t>Adding a new feature to some existing code </a:t>
            </a:r>
          </a:p>
          <a:p>
            <a:pPr lvl="1"/>
            <a:r>
              <a:rPr lang="en-US" i="1" dirty="0"/>
              <a:t>Refactoring</a:t>
            </a:r>
            <a:r>
              <a:rPr lang="en-US" dirty="0"/>
              <a:t> existing code to be more efficient </a:t>
            </a:r>
          </a:p>
          <a:p>
            <a:pPr lvl="1"/>
            <a:r>
              <a:rPr lang="en-US" dirty="0"/>
              <a:t>Correcting code written by an AI tool</a:t>
            </a:r>
          </a:p>
          <a:p>
            <a:pPr lvl="1"/>
            <a:endParaRPr lang="en-US" dirty="0"/>
          </a:p>
          <a:p>
            <a:r>
              <a:rPr lang="en-US" dirty="0"/>
              <a:t>Before you can edit code, you need to understand what it does, and how it works.</a:t>
            </a:r>
          </a:p>
          <a:p>
            <a:endParaRPr lang="en-US" dirty="0"/>
          </a:p>
          <a:p>
            <a:r>
              <a:rPr lang="en-US" dirty="0"/>
              <a:t>Let’s practice reading some code…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1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6A35-68B0-1470-D7D1-788B7E42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21A2-F786-1C93-3F6C-D987DA1B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6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61A2387-D7CD-1E6E-CB3B-273F0461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3" r="36343" b="71985"/>
          <a:stretch/>
        </p:blipFill>
        <p:spPr>
          <a:xfrm>
            <a:off x="1819836" y="1690688"/>
            <a:ext cx="3982591" cy="810465"/>
          </a:xfrm>
          <a:prstGeom prst="rect">
            <a:avLst/>
          </a:prstGeom>
        </p:spPr>
      </p:pic>
      <p:pic>
        <p:nvPicPr>
          <p:cNvPr id="7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56BDAF7-9577-1426-346D-325E46877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14" r="36344" b="50343"/>
          <a:stretch/>
        </p:blipFill>
        <p:spPr>
          <a:xfrm>
            <a:off x="1782881" y="2770094"/>
            <a:ext cx="3982591" cy="1317812"/>
          </a:xfrm>
          <a:prstGeom prst="rect">
            <a:avLst/>
          </a:prstGeom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5422550-735D-6829-B502-64E7274D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178"/>
          <a:stretch/>
        </p:blipFill>
        <p:spPr>
          <a:xfrm>
            <a:off x="1782881" y="4356847"/>
            <a:ext cx="6152781" cy="1702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DCE4A7-CC57-3606-8AE2-BC2AC085200C}"/>
              </a:ext>
            </a:extLst>
          </p:cNvPr>
          <p:cNvSpPr txBox="1"/>
          <p:nvPr/>
        </p:nvSpPr>
        <p:spPr>
          <a:xfrm>
            <a:off x="734011" y="1865088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F0B5-8E6C-2234-219E-CBF210333601}"/>
              </a:ext>
            </a:extLst>
          </p:cNvPr>
          <p:cNvSpPr txBox="1"/>
          <p:nvPr/>
        </p:nvSpPr>
        <p:spPr>
          <a:xfrm>
            <a:off x="734011" y="3110967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68380-FEB5-4C07-76AC-385E7CFA20DF}"/>
              </a:ext>
            </a:extLst>
          </p:cNvPr>
          <p:cNvSpPr txBox="1"/>
          <p:nvPr/>
        </p:nvSpPr>
        <p:spPr>
          <a:xfrm>
            <a:off x="734011" y="4872120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308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7D3-9D5A-B09B-DD25-9F40E105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4"/>
            <a:ext cx="10515600" cy="1325563"/>
          </a:xfrm>
        </p:spPr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48CFB3E-A5F4-CF90-4C8A-DEC896EC1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29" r="29895" b="12460"/>
          <a:stretch/>
        </p:blipFill>
        <p:spPr>
          <a:xfrm>
            <a:off x="527187" y="2330224"/>
            <a:ext cx="5764756" cy="41665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09334-DEDC-30FD-6FC5-4BB504BD7075}"/>
              </a:ext>
            </a:extLst>
          </p:cNvPr>
          <p:cNvSpPr txBox="1"/>
          <p:nvPr/>
        </p:nvSpPr>
        <p:spPr>
          <a:xfrm>
            <a:off x="838200" y="991864"/>
            <a:ext cx="99231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For more complex bits of code, adding print statements can help you to understand what’s going on.</a:t>
            </a:r>
          </a:p>
        </p:txBody>
      </p:sp>
      <p:pic>
        <p:nvPicPr>
          <p:cNvPr id="3" name="Picture 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58B2B03-ACB2-1857-7ECC-3F86F05D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46" y="1649186"/>
            <a:ext cx="52387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8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C0EB-4B7D-B4B9-FA12-37B4F7C8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D8F-DEB4-89E0-543F-1C3D7B8C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4A9A-F491-5975-629A-270D6428E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597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most </a:t>
            </a:r>
            <a:r>
              <a:rPr lang="en-US" dirty="0"/>
              <a:t>important thing is to be consistent- pick a format and stick to it.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PEP 8</a:t>
            </a:r>
            <a:r>
              <a:rPr lang="en-US" dirty="0"/>
              <a:t> is the generally-accepted style guide for Python. </a:t>
            </a:r>
          </a:p>
          <a:p>
            <a:endParaRPr lang="en-US" dirty="0"/>
          </a:p>
          <a:p>
            <a:r>
              <a:rPr lang="en-US" dirty="0"/>
              <a:t>We have outlined a vastly reduced set of style directives – the </a:t>
            </a:r>
            <a:r>
              <a:rPr lang="en-US" b="1" dirty="0"/>
              <a:t>CPA style guide </a:t>
            </a:r>
            <a:r>
              <a:rPr lang="en-US" dirty="0"/>
              <a:t>(available on blackboard).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Variables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Constants and magic numbers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Comments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  <a:p>
            <a:endParaRPr lang="en-US" dirty="0"/>
          </a:p>
          <a:p>
            <a:r>
              <a:rPr lang="en-US" dirty="0"/>
              <a:t>Your assessments will be marked down for not following the unit style guide!</a:t>
            </a:r>
          </a:p>
        </p:txBody>
      </p:sp>
    </p:spTree>
    <p:extLst>
      <p:ext uri="{BB962C8B-B14F-4D97-AF65-F5344CB8AC3E}">
        <p14:creationId xmlns:p14="http://schemas.microsoft.com/office/powerpoint/2010/main" val="60223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1A9-9C89-5BE7-3958-B04C8423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B74A9-8F12-37AC-C292-521189E84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0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have a </a:t>
            </a:r>
            <a:r>
              <a:rPr lang="en-US" b="1" dirty="0"/>
              <a:t>descriptive</a:t>
            </a:r>
            <a:r>
              <a:rPr lang="en-US" dirty="0"/>
              <a:t> name</a:t>
            </a:r>
          </a:p>
          <a:p>
            <a:r>
              <a:rPr lang="en-US" dirty="0"/>
              <a:t>Must use </a:t>
            </a:r>
            <a:r>
              <a:rPr lang="en-US" b="1" dirty="0"/>
              <a:t>lower case</a:t>
            </a:r>
            <a:r>
              <a:rPr lang="en-US" dirty="0"/>
              <a:t> with </a:t>
            </a:r>
            <a:r>
              <a:rPr lang="en-US" b="1" dirty="0"/>
              <a:t>underscores</a:t>
            </a:r>
            <a:r>
              <a:rPr lang="en-US" dirty="0"/>
              <a:t> to separate words</a:t>
            </a:r>
          </a:p>
          <a:p>
            <a:r>
              <a:rPr lang="en-US" dirty="0"/>
              <a:t>Must not be single letters (</a:t>
            </a:r>
            <a:r>
              <a:rPr lang="en-US" dirty="0" err="1"/>
              <a:t>i</a:t>
            </a:r>
            <a:r>
              <a:rPr lang="en-US" dirty="0"/>
              <a:t>, j, k)</a:t>
            </a:r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close-up of a word&#10;&#10;AI-generated content may be incorrect.">
            <a:extLst>
              <a:ext uri="{FF2B5EF4-FFF2-40B4-BE49-F238E27FC236}">
                <a16:creationId xmlns:a16="http://schemas.microsoft.com/office/drawing/2014/main" id="{07767D9E-1A58-FF01-1FDC-71A3BB3D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02" y="3995899"/>
            <a:ext cx="3009900" cy="11239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D48AA-685D-949E-9C8E-CA9D0AA45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642" y="3999722"/>
            <a:ext cx="6804737" cy="1105677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6B11F-07AD-C068-7E38-7FC2BDD7923A}"/>
              </a:ext>
            </a:extLst>
          </p:cNvPr>
          <p:cNvSpPr txBox="1">
            <a:spLocks/>
          </p:cNvSpPr>
          <p:nvPr/>
        </p:nvSpPr>
        <p:spPr>
          <a:xfrm>
            <a:off x="1300808" y="5274609"/>
            <a:ext cx="265067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Hard to tell what a and b represent</a:t>
            </a:r>
            <a:endParaRPr lang="en-US" sz="2400" i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8E64A8-A77D-5B9B-7C59-546199E55AA5}"/>
              </a:ext>
            </a:extLst>
          </p:cNvPr>
          <p:cNvSpPr txBox="1">
            <a:spLocks/>
          </p:cNvSpPr>
          <p:nvPr/>
        </p:nvSpPr>
        <p:spPr>
          <a:xfrm>
            <a:off x="5199255" y="5274608"/>
            <a:ext cx="759006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The code is self-explanatory without comments</a:t>
            </a:r>
            <a:endParaRPr lang="en-US" i="1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A513E-F2DB-40F6-127E-4BC19590E56F}"/>
              </a:ext>
            </a:extLst>
          </p:cNvPr>
          <p:cNvSpPr txBox="1"/>
          <p:nvPr/>
        </p:nvSpPr>
        <p:spPr>
          <a:xfrm>
            <a:off x="551089" y="3673928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2B57D-314D-C46A-9E71-A286936BF9D1}"/>
              </a:ext>
            </a:extLst>
          </p:cNvPr>
          <p:cNvSpPr txBox="1"/>
          <p:nvPr/>
        </p:nvSpPr>
        <p:spPr>
          <a:xfrm>
            <a:off x="4483553" y="3673928"/>
            <a:ext cx="9252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3644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8A2F-5D82-806F-B2A1-9CA41D92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71C6-2549-F159-34B1-2F5BBDBB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649" y="147411"/>
            <a:ext cx="10515600" cy="1325563"/>
          </a:xfrm>
        </p:spPr>
        <p:txBody>
          <a:bodyPr/>
          <a:lstStyle/>
          <a:p>
            <a:r>
              <a:rPr lang="en-US" b="1" dirty="0"/>
              <a:t>1.Variables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2975B-7B5C-30BC-7F89-86B44811E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649" y="1220107"/>
            <a:ext cx="10515600" cy="3567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Do use English grammar conventions (i.e. plurals for lists) for clarity of meaning 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Do not use Python built-in objects / functions (</a:t>
            </a:r>
            <a:r>
              <a:rPr lang="en-US" dirty="0" err="1"/>
              <a:t>i.e</a:t>
            </a:r>
            <a:r>
              <a:rPr lang="en-US" dirty="0"/>
              <a:t> str, int)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0A7B86-9AB7-37A0-231B-AFF854CE1551}"/>
              </a:ext>
            </a:extLst>
          </p:cNvPr>
          <p:cNvSpPr txBox="1">
            <a:spLocks/>
          </p:cNvSpPr>
          <p:nvPr/>
        </p:nvSpPr>
        <p:spPr>
          <a:xfrm>
            <a:off x="7046911" y="4899440"/>
            <a:ext cx="450318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 dirty="0">
                <a:ea typeface="+mn-lt"/>
                <a:cs typeface="+mn-lt"/>
              </a:rPr>
              <a:t>Overwrites Python’s built-in 'constructor' functions which breaks common functionality</a:t>
            </a:r>
            <a:endParaRPr lang="en-US" sz="2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DB282-D9AF-36E1-D7C7-8D88E89BD7C2}"/>
              </a:ext>
            </a:extLst>
          </p:cNvPr>
          <p:cNvSpPr txBox="1"/>
          <p:nvPr/>
        </p:nvSpPr>
        <p:spPr>
          <a:xfrm>
            <a:off x="-1496786" y="3428999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18B1E-319D-FDDB-1C3F-96CCF39E6179}"/>
              </a:ext>
            </a:extLst>
          </p:cNvPr>
          <p:cNvSpPr txBox="1"/>
          <p:nvPr/>
        </p:nvSpPr>
        <p:spPr>
          <a:xfrm>
            <a:off x="-1530804" y="4803321"/>
            <a:ext cx="9252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E1B82-92FA-C3D4-CE8A-467B187AC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42" y="2094140"/>
            <a:ext cx="4173117" cy="1301232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3" name="Picture 12" descr="A close-up of text&#10;&#10;AI-generated content may be incorrect.">
            <a:extLst>
              <a:ext uri="{FF2B5EF4-FFF2-40B4-BE49-F238E27FC236}">
                <a16:creationId xmlns:a16="http://schemas.microsoft.com/office/drawing/2014/main" id="{705D9E49-FB2B-0791-E762-1ED7D572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280" y="2093167"/>
            <a:ext cx="4483359" cy="1474237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4E01A42-A930-907F-E8DB-FE3F47E9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20" y="4322990"/>
            <a:ext cx="5000820" cy="2251399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9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7F20-F1DE-2F4E-76C5-EE3F34C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446-405F-F7E9-F855-7F19D433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8E3B6-4566-626E-5F01-241218F8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5689"/>
            <a:ext cx="10115550" cy="2248678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C8FB78-41A6-1123-0915-79716B01FCAF}"/>
              </a:ext>
            </a:extLst>
          </p:cNvPr>
          <p:cNvSpPr txBox="1">
            <a:spLocks/>
          </p:cNvSpPr>
          <p:nvPr/>
        </p:nvSpPr>
        <p:spPr>
          <a:xfrm>
            <a:off x="838165" y="5485518"/>
            <a:ext cx="11808278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Magic numbers (0, 180, and 75) make editing the code more susceptible to error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45907-A2CE-9529-10B2-330DEDCF1818}"/>
              </a:ext>
            </a:extLst>
          </p:cNvPr>
          <p:cNvSpPr txBox="1"/>
          <p:nvPr/>
        </p:nvSpPr>
        <p:spPr>
          <a:xfrm>
            <a:off x="10402660" y="3224892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814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371F-7E5C-F81B-D3E1-1DA17625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0DA2-9A8D-E05C-ABC7-2E024EB5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AC4D-3697-F183-58A4-A67F3583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018"/>
            <a:ext cx="10515600" cy="4351338"/>
          </a:xfrm>
        </p:spPr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1CB8AB-C632-E3B3-55B2-4988790153A7}"/>
              </a:ext>
            </a:extLst>
          </p:cNvPr>
          <p:cNvSpPr txBox="1">
            <a:spLocks/>
          </p:cNvSpPr>
          <p:nvPr/>
        </p:nvSpPr>
        <p:spPr>
          <a:xfrm>
            <a:off x="838165" y="5784875"/>
            <a:ext cx="11808278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Code is more readable 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i="1" dirty="0"/>
              <a:t>Only need to edited in one, easy to find, place if constant values needs modifying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94F6B-6D08-54B2-C128-35C003BA8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9" y="2453149"/>
            <a:ext cx="10668000" cy="314913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0CDFA7A1-AF67-646A-A718-0C6EC9E0D2A8}"/>
              </a:ext>
            </a:extLst>
          </p:cNvPr>
          <p:cNvSpPr txBox="1"/>
          <p:nvPr/>
        </p:nvSpPr>
        <p:spPr>
          <a:xfrm>
            <a:off x="10729231" y="26465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0833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CD27-11E6-2951-861A-908DCA9B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CB4D-DD33-FC60-D6CE-5D5B951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have a </a:t>
            </a:r>
            <a:r>
              <a:rPr lang="en-US" b="1" dirty="0"/>
              <a:t>descriptive</a:t>
            </a:r>
            <a:r>
              <a:rPr lang="en-US" dirty="0"/>
              <a:t> name</a:t>
            </a:r>
          </a:p>
          <a:p>
            <a:r>
              <a:rPr lang="en-US" dirty="0"/>
              <a:t>Must use </a:t>
            </a:r>
            <a:r>
              <a:rPr lang="en-US" b="1" dirty="0"/>
              <a:t>lower case</a:t>
            </a:r>
            <a:r>
              <a:rPr lang="en-US" dirty="0"/>
              <a:t> with </a:t>
            </a:r>
            <a:r>
              <a:rPr lang="en-US" b="1" dirty="0"/>
              <a:t>underscores</a:t>
            </a:r>
            <a:r>
              <a:rPr lang="en-US" dirty="0"/>
              <a:t> to separate words</a:t>
            </a:r>
          </a:p>
          <a:p>
            <a:r>
              <a:rPr lang="en-US" dirty="0"/>
              <a:t>Should include a </a:t>
            </a:r>
            <a:r>
              <a:rPr lang="en-US" b="1" dirty="0"/>
              <a:t>docstring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Short functions – can be a single line comment explaining what the function does</a:t>
            </a:r>
          </a:p>
          <a:p>
            <a:pPr lvl="1"/>
            <a:r>
              <a:rPr lang="en-US" dirty="0"/>
              <a:t>Longer functions – should be a multi-line comment, defining inputs, outputs, what the function does, and how it does it.</a:t>
            </a:r>
          </a:p>
        </p:txBody>
      </p:sp>
    </p:spTree>
    <p:extLst>
      <p:ext uri="{BB962C8B-B14F-4D97-AF65-F5344CB8AC3E}">
        <p14:creationId xmlns:p14="http://schemas.microsoft.com/office/powerpoint/2010/main" val="272623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3C01-28EB-1041-7CC2-84931482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8B0B-19A5-589B-2D58-10B675C1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3.Functions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41B32E-15FF-B518-FD1C-9666BC7CB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696" y="1715294"/>
            <a:ext cx="3143250" cy="12382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1A521-B1C0-7C1F-0533-418D7B149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078" y="1683592"/>
            <a:ext cx="6362700" cy="17335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55EECAD-A041-5E99-5197-4581DEE1DE71}"/>
              </a:ext>
            </a:extLst>
          </p:cNvPr>
          <p:cNvSpPr txBox="1"/>
          <p:nvPr/>
        </p:nvSpPr>
        <p:spPr>
          <a:xfrm>
            <a:off x="4918981" y="1394732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28C9A-765E-8AEC-0B43-DBDCD6CA4767}"/>
              </a:ext>
            </a:extLst>
          </p:cNvPr>
          <p:cNvSpPr txBox="1"/>
          <p:nvPr/>
        </p:nvSpPr>
        <p:spPr>
          <a:xfrm>
            <a:off x="571499" y="1496785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DE50BB-391F-669D-A1BE-65E9DCDAF51C}"/>
              </a:ext>
            </a:extLst>
          </p:cNvPr>
          <p:cNvSpPr txBox="1">
            <a:spLocks/>
          </p:cNvSpPr>
          <p:nvPr/>
        </p:nvSpPr>
        <p:spPr>
          <a:xfrm>
            <a:off x="838165" y="3240339"/>
            <a:ext cx="3834493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ea typeface="+mn-lt"/>
                <a:cs typeface="+mn-lt"/>
              </a:rPr>
              <a:t>Name isn’t descriptive.</a:t>
            </a:r>
            <a:endParaRPr lang="en-US" i="1" dirty="0"/>
          </a:p>
          <a:p>
            <a:r>
              <a:rPr lang="en-US" sz="2400" i="1" dirty="0">
                <a:ea typeface="+mn-lt"/>
                <a:cs typeface="+mn-lt"/>
              </a:rPr>
              <a:t>No comment or docstring.</a:t>
            </a:r>
            <a:endParaRPr lang="en-US" i="1" dirty="0"/>
          </a:p>
          <a:p>
            <a:r>
              <a:rPr lang="en-US" sz="2400" i="1" dirty="0">
                <a:ea typeface="+mn-lt"/>
                <a:cs typeface="+mn-lt"/>
              </a:rPr>
              <a:t>Hard to tell what the function does.</a:t>
            </a:r>
            <a:endParaRPr lang="en-US" i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EDDB841-4FF6-A9F3-A422-A15D24EF42F1}"/>
              </a:ext>
            </a:extLst>
          </p:cNvPr>
          <p:cNvSpPr txBox="1">
            <a:spLocks/>
          </p:cNvSpPr>
          <p:nvPr/>
        </p:nvSpPr>
        <p:spPr>
          <a:xfrm>
            <a:off x="5253683" y="3641750"/>
            <a:ext cx="6773635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ea typeface="+mn-lt"/>
                <a:cs typeface="+mn-lt"/>
              </a:rPr>
              <a:t>Descriptive, lowercase name with underscores.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Short, clear comment explains what it does.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Concise and readable.</a:t>
            </a:r>
            <a:endParaRPr lang="en-US" i="1" dirty="0">
              <a:ea typeface="+mn-lt"/>
              <a:cs typeface="+mn-lt"/>
            </a:endParaRPr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60988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461-0AAE-E57C-5672-18D9195A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EE1637-ADF5-DB47-0E14-DD500F5EC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916" y="629326"/>
            <a:ext cx="6793591" cy="4958988"/>
          </a:xfrm>
          <a:prstGeom prst="rect">
            <a:avLst/>
          </a:prstGeom>
        </p:spPr>
      </p:pic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8CE0A31-8F3A-1C91-147C-B7D86288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2020"/>
            <a:ext cx="3431333" cy="279879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A04F12-4948-827E-D478-B6EB017075FE}"/>
              </a:ext>
            </a:extLst>
          </p:cNvPr>
          <p:cNvSpPr txBox="1"/>
          <p:nvPr/>
        </p:nvSpPr>
        <p:spPr>
          <a:xfrm>
            <a:off x="540398" y="3531053"/>
            <a:ext cx="441551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Function name is not descriptive.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Variable names (d, t, r, x) are not descriptive.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No docstring or comment explaining purpose, inputs, or outputs.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Print statement gives no meaningful context.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Code works, but isn’t readable or maintainable.</a:t>
            </a:r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0691F-8F5E-C77E-3B15-3F3669975D77}"/>
              </a:ext>
            </a:extLst>
          </p:cNvPr>
          <p:cNvSpPr txBox="1"/>
          <p:nvPr/>
        </p:nvSpPr>
        <p:spPr>
          <a:xfrm>
            <a:off x="3633106" y="428624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4E6CDDA-3098-B803-B3F6-2D25ACCB74FE}"/>
              </a:ext>
            </a:extLst>
          </p:cNvPr>
          <p:cNvSpPr txBox="1"/>
          <p:nvPr/>
        </p:nvSpPr>
        <p:spPr>
          <a:xfrm>
            <a:off x="11061245" y="5129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3174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FC6A-0F1E-6028-B917-6B7DF74A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DD503-792D-D108-1E62-DDEBB517F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679"/>
            <a:ext cx="10515600" cy="47595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Comments should be used throughout your code to support </a:t>
            </a:r>
            <a:r>
              <a:rPr lang="en-US" sz="2000" b="1" dirty="0"/>
              <a:t>readability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Any line of code that starts with a # will be ignored by the Python interpreter</a:t>
            </a:r>
          </a:p>
          <a:p>
            <a:endParaRPr lang="en-US" sz="2000" dirty="0"/>
          </a:p>
          <a:p>
            <a:r>
              <a:rPr lang="en-US" sz="2000" dirty="0"/>
              <a:t>To create a multi-line comment, use three quotation marks (‘‘‘)instead.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If the variable / function naming makes it clear what is going on, then we don’t need a comment.</a:t>
            </a:r>
          </a:p>
          <a:p>
            <a:endParaRPr lang="en-US" sz="2000" dirty="0"/>
          </a:p>
          <a:p>
            <a:r>
              <a:rPr lang="en-US" sz="2000" dirty="0"/>
              <a:t>You can also use comments to temporarily remove ("comment out") sections of code that you don’t want to delete- this can be really helpful for debugging.</a:t>
            </a:r>
          </a:p>
          <a:p>
            <a:endParaRPr lang="en-US" sz="2000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F6228E4-7F7F-64EA-83B1-0E01412BD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39" r="47868" b="8319"/>
          <a:stretch/>
        </p:blipFill>
        <p:spPr>
          <a:xfrm>
            <a:off x="1967592" y="3534556"/>
            <a:ext cx="8009495" cy="114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74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7C19-5506-3D77-5AB7-12163E44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B8EC-614E-ACD9-1274-724C9339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29"/>
            <a:ext cx="10515600" cy="1325563"/>
          </a:xfrm>
        </p:spPr>
        <p:txBody>
          <a:bodyPr/>
          <a:lstStyle/>
          <a:p>
            <a:r>
              <a:rPr lang="en-US" b="1" dirty="0"/>
              <a:t>4.Comments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1B7D6-FB84-56C7-5520-9480453E5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11" y="1154274"/>
            <a:ext cx="3335695" cy="188245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3A5D38B-45E9-6DCF-EE2A-FDF70751E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00" y="3240055"/>
            <a:ext cx="8326018" cy="306044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6CBB56-4052-6D11-3953-FA7932A5A937}"/>
              </a:ext>
            </a:extLst>
          </p:cNvPr>
          <p:cNvSpPr txBox="1"/>
          <p:nvPr/>
        </p:nvSpPr>
        <p:spPr>
          <a:xfrm>
            <a:off x="5442857" y="748393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i="1" dirty="0"/>
              <a:t>Comments explain why and what, not how.</a:t>
            </a:r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Leaves simple, self-explanatory lines uncommented.</a:t>
            </a:r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Improves readability without redundancy.</a:t>
            </a:r>
            <a:endParaRPr lang="en-US" sz="2400" i="1" dirty="0">
              <a:ea typeface="+mn-lt"/>
              <a:cs typeface="+mn-lt"/>
            </a:endParaRPr>
          </a:p>
          <a:p>
            <a:pPr marL="228600" indent="-228600">
              <a:buFont typeface=""/>
              <a:buChar char="•"/>
            </a:pPr>
            <a:r>
              <a:rPr lang="en-US" sz="2400" i="1" dirty="0">
                <a:ea typeface="+mn-lt"/>
                <a:cs typeface="+mn-lt"/>
              </a:rPr>
              <a:t>To write comments to explain your code to a “future you”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  <a:p>
            <a:pPr algn="ctr"/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8D7AD-7AEC-D643-7C2F-8D6F6B295F21}"/>
              </a:ext>
            </a:extLst>
          </p:cNvPr>
          <p:cNvSpPr txBox="1"/>
          <p:nvPr/>
        </p:nvSpPr>
        <p:spPr>
          <a:xfrm>
            <a:off x="3714749" y="1047749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3EABA57-9706-7265-F25E-BC69DE255DB8}"/>
              </a:ext>
            </a:extLst>
          </p:cNvPr>
          <p:cNvSpPr txBox="1"/>
          <p:nvPr/>
        </p:nvSpPr>
        <p:spPr>
          <a:xfrm>
            <a:off x="8694963" y="2918732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3554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BFD8-0A8B-674A-EBBB-8F6B60D5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3F37-D438-9523-CE27-E8392172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4.Comments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5643404-F1FD-2D22-BD42-70F865FD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22" y="1690395"/>
            <a:ext cx="5973536" cy="464547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FBBD5B-F297-B741-94C1-B405BA4DE998}"/>
              </a:ext>
            </a:extLst>
          </p:cNvPr>
          <p:cNvSpPr txBox="1"/>
          <p:nvPr/>
        </p:nvSpPr>
        <p:spPr>
          <a:xfrm>
            <a:off x="7225393" y="1687286"/>
            <a:ext cx="450396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i="1" dirty="0"/>
              <a:t>Every line is commented, even when the code is self-explanatory.</a:t>
            </a:r>
          </a:p>
          <a:p>
            <a:pPr marL="228600" indent="-228600">
              <a:buFont typeface=""/>
              <a:buChar char="•"/>
            </a:pPr>
            <a:endParaRPr lang="en-US" sz="2400" i="1" dirty="0"/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Harder to read, not easier.</a:t>
            </a:r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76884-A434-8703-66F1-90CE83813A5F}"/>
              </a:ext>
            </a:extLst>
          </p:cNvPr>
          <p:cNvSpPr txBox="1"/>
          <p:nvPr/>
        </p:nvSpPr>
        <p:spPr>
          <a:xfrm>
            <a:off x="6191249" y="1836963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C9797-7533-FF05-2B4C-3DBD18885B6A}"/>
              </a:ext>
            </a:extLst>
          </p:cNvPr>
          <p:cNvSpPr txBox="1"/>
          <p:nvPr/>
        </p:nvSpPr>
        <p:spPr>
          <a:xfrm>
            <a:off x="7334057" y="3903277"/>
            <a:ext cx="41503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</a:rPr>
              <a:t>We will sometimes use 'too many' comments in our code examples to help with teaching</a:t>
            </a:r>
          </a:p>
        </p:txBody>
      </p:sp>
    </p:spTree>
    <p:extLst>
      <p:ext uri="{BB962C8B-B14F-4D97-AF65-F5344CB8AC3E}">
        <p14:creationId xmlns:p14="http://schemas.microsoft.com/office/powerpoint/2010/main" val="326277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8137-4CE0-3EA3-4775-331AFFCE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4F4E-37F1-348B-960A-77ED98DC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code should adhere to the expected structure for a python file: </a:t>
            </a:r>
          </a:p>
          <a:p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Imports</a:t>
            </a:r>
          </a:p>
          <a:p>
            <a:pPr marL="914400" lvl="1" indent="-457200">
              <a:buAutoNum type="arabicPeriod"/>
            </a:pPr>
            <a:r>
              <a:rPr lang="en-US" dirty="0"/>
              <a:t>Constant definitions</a:t>
            </a:r>
          </a:p>
          <a:p>
            <a:pPr marL="914400" lvl="1" indent="-457200">
              <a:buAutoNum type="arabicPeriod"/>
            </a:pPr>
            <a:r>
              <a:rPr lang="en-US" dirty="0"/>
              <a:t>Function definitions</a:t>
            </a:r>
          </a:p>
          <a:p>
            <a:pPr marL="914400" lvl="1" indent="-457200">
              <a:buAutoNum type="arabicPeriod"/>
            </a:pPr>
            <a:r>
              <a:rPr lang="en-US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230458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8875-D1BF-6C75-6B52-5D08B72A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650E-1DB0-919C-6C16-4C4AFB7F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pic>
        <p:nvPicPr>
          <p:cNvPr id="6" name="Content Placeholder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0A55E7C-8B55-0A93-84F6-4583F0AF3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0268" y="1155959"/>
            <a:ext cx="4817729" cy="346493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D9BFF-1669-FEC9-9DDB-4E964D0C5EE0}"/>
              </a:ext>
            </a:extLst>
          </p:cNvPr>
          <p:cNvSpPr txBox="1"/>
          <p:nvPr/>
        </p:nvSpPr>
        <p:spPr>
          <a:xfrm>
            <a:off x="1122590" y="2775858"/>
            <a:ext cx="428625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Imports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Constant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Function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310CA-D36C-41BF-6175-1FA27B8EA479}"/>
              </a:ext>
            </a:extLst>
          </p:cNvPr>
          <p:cNvSpPr txBox="1"/>
          <p:nvPr/>
        </p:nvSpPr>
        <p:spPr>
          <a:xfrm>
            <a:off x="6300107" y="4769304"/>
            <a:ext cx="505505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/>
              <a:t>The structure isn’t predictable or maintainable.</a:t>
            </a:r>
            <a:endParaRPr lang="en-US" sz="2000"/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C3EE5-0F1F-D712-181F-6E35DE7A9989}"/>
              </a:ext>
            </a:extLst>
          </p:cNvPr>
          <p:cNvSpPr txBox="1"/>
          <p:nvPr/>
        </p:nvSpPr>
        <p:spPr>
          <a:xfrm>
            <a:off x="10693269" y="927228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49325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411E-D769-9F36-6D2A-58D82D06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81B4-327A-EBC3-C06A-96129403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055C3-1160-D11C-9984-83C6DD5D64C7}"/>
              </a:ext>
            </a:extLst>
          </p:cNvPr>
          <p:cNvSpPr txBox="1"/>
          <p:nvPr/>
        </p:nvSpPr>
        <p:spPr>
          <a:xfrm>
            <a:off x="611351" y="1686314"/>
            <a:ext cx="406853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Imports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Constant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Function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 function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0E6EF3-7D40-2738-D55F-2A94E205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992" y="1018591"/>
            <a:ext cx="6724118" cy="5310674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ED67BC-68C1-E070-9946-B1A8EF421C36}"/>
              </a:ext>
            </a:extLst>
          </p:cNvPr>
          <p:cNvSpPr txBox="1"/>
          <p:nvPr/>
        </p:nvSpPr>
        <p:spPr>
          <a:xfrm>
            <a:off x="381000" y="3429000"/>
            <a:ext cx="4844143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Follows the standard, expected order.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Easy for anyone to navigate the file.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Keeps constants and logic organized.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Includes a proper main() entry point for clean execution.</a:t>
            </a:r>
          </a:p>
          <a:p>
            <a:pPr marL="228600" indent="-228600">
              <a:buFont typeface=""/>
              <a:buChar char="•"/>
            </a:pPr>
            <a:endParaRPr lang="en-US" sz="2000" i="1" dirty="0"/>
          </a:p>
          <a:p>
            <a:pPr algn="ctr"/>
            <a:endParaRPr lang="en-GB" dirty="0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E836B05B-89C9-D001-32BE-BAE5966D8530}"/>
              </a:ext>
            </a:extLst>
          </p:cNvPr>
          <p:cNvSpPr txBox="1"/>
          <p:nvPr/>
        </p:nvSpPr>
        <p:spPr>
          <a:xfrm>
            <a:off x="11130642" y="121783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1917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C133-4115-A540-EB8A-D359082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- The CPA style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C4888-F98A-DEFD-EC0D-99F0FA4C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Variables should be lower case with underscores (_) to separate words.  (</a:t>
            </a:r>
            <a:r>
              <a:rPr lang="en-US" dirty="0" err="1"/>
              <a:t>this_is_an_example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Variable names should be meaningful and readable.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should use comments to help with readability.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be lower case with underscores (_) to separate words.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contain docstrings.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Classes should be use capitalized words (</a:t>
            </a:r>
            <a:r>
              <a:rPr lang="en-US" i="1" dirty="0" err="1"/>
              <a:t>i.e</a:t>
            </a:r>
            <a:r>
              <a:rPr lang="en-US" i="1" dirty="0"/>
              <a:t> </a:t>
            </a:r>
            <a:r>
              <a:rPr lang="en-US" i="1" dirty="0" err="1"/>
              <a:t>RobotClass</a:t>
            </a:r>
            <a:r>
              <a:rPr lang="en-US" i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22146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7F85-83CB-B6DA-90A6-4D5FA9D8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8529-2A91-C71E-17EA-CCDBDFFA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732"/>
            <a:ext cx="10515600" cy="1325563"/>
          </a:xfrm>
        </p:spPr>
        <p:txBody>
          <a:bodyPr/>
          <a:lstStyle/>
          <a:p>
            <a:r>
              <a:rPr lang="en-US" dirty="0"/>
              <a:t>Discussion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8F59-6C97-0B5C-37D0-62E236DF0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05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Discuss the code examples in your tables: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Are function and variable names descriptive and meaningful?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Are comments sparse/helpful/redundant?</a:t>
            </a:r>
          </a:p>
          <a:p>
            <a:r>
              <a:rPr lang="en-US" dirty="0">
                <a:ea typeface="+mn-lt"/>
                <a:cs typeface="+mn-lt"/>
              </a:rPr>
              <a:t>Are docstrings used to explain functions?</a:t>
            </a:r>
          </a:p>
          <a:p>
            <a:r>
              <a:rPr lang="en-US" dirty="0">
                <a:ea typeface="+mn-lt"/>
                <a:cs typeface="+mn-lt"/>
              </a:rPr>
              <a:t>Is the file structure following the recommended order?</a:t>
            </a:r>
          </a:p>
          <a:p>
            <a:r>
              <a:rPr lang="en-US" dirty="0">
                <a:ea typeface="+mn-lt"/>
                <a:cs typeface="+mn-lt"/>
              </a:rPr>
              <a:t>How could you improve readability?</a:t>
            </a:r>
            <a:endParaRPr lang="en-US"/>
          </a:p>
          <a:p>
            <a:r>
              <a:rPr lang="en-US" sz="2600" dirty="0"/>
              <a:t>How might you structure or comment it better?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41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5B54-418A-7486-05BB-D8684217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62C4-08D1-5D76-449A-8DB3BE8F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47" y="192767"/>
            <a:ext cx="6678386" cy="24055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Are function and variable names descriptive and meaningful?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Are comments sparse/helpful/redundant?</a:t>
            </a:r>
          </a:p>
          <a:p>
            <a:r>
              <a:rPr lang="en-US" sz="1800" dirty="0">
                <a:ea typeface="+mn-lt"/>
                <a:cs typeface="+mn-lt"/>
              </a:rPr>
              <a:t>Are docstrings used to explain functions?</a:t>
            </a:r>
          </a:p>
          <a:p>
            <a:r>
              <a:rPr lang="en-US" sz="1800" dirty="0">
                <a:ea typeface="+mn-lt"/>
                <a:cs typeface="+mn-lt"/>
              </a:rPr>
              <a:t>Is the file structure following the recommended order?</a:t>
            </a:r>
          </a:p>
          <a:p>
            <a:r>
              <a:rPr lang="en-US" sz="1800" dirty="0">
                <a:ea typeface="+mn-lt"/>
                <a:cs typeface="+mn-lt"/>
              </a:rPr>
              <a:t>How could you improve readability?</a:t>
            </a:r>
            <a:endParaRPr lang="en-US" sz="1800" dirty="0"/>
          </a:p>
          <a:p>
            <a:r>
              <a:rPr lang="en-US" sz="1800" dirty="0"/>
              <a:t>How might you structure or comment it better?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B535748E-7203-2822-AEF2-98D6EF74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13" y="2594687"/>
            <a:ext cx="3214008" cy="132553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7BA5C8-EE1A-B6A8-4E21-CE46F63C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90" y="4195859"/>
            <a:ext cx="5681177" cy="248136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FB73859-A288-E113-371F-1E8468E8F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" b="16620"/>
          <a:stretch>
            <a:fillRect/>
          </a:stretch>
        </p:blipFill>
        <p:spPr>
          <a:xfrm>
            <a:off x="7393149" y="89418"/>
            <a:ext cx="3881737" cy="321242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2" name="Picture 1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F35043B-3B89-5B7B-9823-04B13AA42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3431916"/>
            <a:ext cx="4683579" cy="323850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9A3C960E-9158-0C0F-44FF-6CC4D5F5BB12}"/>
              </a:ext>
            </a:extLst>
          </p:cNvPr>
          <p:cNvSpPr txBox="1"/>
          <p:nvPr/>
        </p:nvSpPr>
        <p:spPr>
          <a:xfrm>
            <a:off x="3160744" y="2594104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1</a:t>
            </a:r>
            <a:endParaRPr lang="en-US" sz="3600" b="1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C09E864-C096-559E-599B-D6952337DA04}"/>
              </a:ext>
            </a:extLst>
          </p:cNvPr>
          <p:cNvSpPr txBox="1"/>
          <p:nvPr/>
        </p:nvSpPr>
        <p:spPr>
          <a:xfrm>
            <a:off x="5633356" y="419585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2</a:t>
            </a:r>
            <a:endParaRPr lang="en-US" sz="3600" b="1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6C70BE8-EA7B-9CAB-4F03-176C0311F505}"/>
              </a:ext>
            </a:extLst>
          </p:cNvPr>
          <p:cNvSpPr txBox="1"/>
          <p:nvPr/>
        </p:nvSpPr>
        <p:spPr>
          <a:xfrm>
            <a:off x="10811846" y="903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3</a:t>
            </a:r>
            <a:endParaRPr lang="en-US" sz="3600" b="1" dirty="0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2C55FA55-9449-4196-35B1-5C629DF1BFFB}"/>
              </a:ext>
            </a:extLst>
          </p:cNvPr>
          <p:cNvSpPr txBox="1"/>
          <p:nvPr/>
        </p:nvSpPr>
        <p:spPr>
          <a:xfrm>
            <a:off x="10811846" y="3426084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4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52161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1045</Words>
  <Application>Microsoft Macintosh PowerPoint</Application>
  <PresentationFormat>Widescreen</PresentationFormat>
  <Paragraphs>183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Writing Readable Code</vt:lpstr>
      <vt:lpstr>Learning Objectives</vt:lpstr>
      <vt:lpstr>Why do we care about consistent style?</vt:lpstr>
      <vt:lpstr>Reading and Understanding Code</vt:lpstr>
      <vt:lpstr>Reading Code Examples</vt:lpstr>
      <vt:lpstr>Reading and Understanding Code</vt:lpstr>
      <vt:lpstr>Writing Readable Code - consistency</vt:lpstr>
      <vt:lpstr>1.Variables</vt:lpstr>
      <vt:lpstr>1.Variables</vt:lpstr>
      <vt:lpstr>2.Constants and magic numbers</vt:lpstr>
      <vt:lpstr>2.Constants and magic numbers</vt:lpstr>
      <vt:lpstr>3.Functions</vt:lpstr>
      <vt:lpstr>3.Functions</vt:lpstr>
      <vt:lpstr>PowerPoint Presentation</vt:lpstr>
      <vt:lpstr>4.Comments</vt:lpstr>
      <vt:lpstr>4.Comments</vt:lpstr>
      <vt:lpstr>4.Comments</vt:lpstr>
      <vt:lpstr>.py file structure</vt:lpstr>
      <vt:lpstr>.py file structure</vt:lpstr>
      <vt:lpstr>.py file structure</vt:lpstr>
      <vt:lpstr>Summary - The CPA style guide</vt:lpstr>
      <vt:lpstr>Discussion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Hemma Philamore</cp:lastModifiedBy>
  <cp:revision>397</cp:revision>
  <dcterms:created xsi:type="dcterms:W3CDTF">2024-10-25T12:48:27Z</dcterms:created>
  <dcterms:modified xsi:type="dcterms:W3CDTF">2025-11-19T20:26:00Z</dcterms:modified>
</cp:coreProperties>
</file>